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317" r:id="rId4"/>
    <p:sldId id="339" r:id="rId5"/>
    <p:sldId id="337" r:id="rId6"/>
    <p:sldId id="348" r:id="rId7"/>
    <p:sldId id="349" r:id="rId8"/>
    <p:sldId id="261" r:id="rId9"/>
    <p:sldId id="340" r:id="rId10"/>
    <p:sldId id="341" r:id="rId11"/>
    <p:sldId id="334" r:id="rId12"/>
    <p:sldId id="268" r:id="rId13"/>
    <p:sldId id="345" r:id="rId14"/>
    <p:sldId id="344" r:id="rId15"/>
    <p:sldId id="271" r:id="rId16"/>
    <p:sldId id="272" r:id="rId17"/>
    <p:sldId id="274" r:id="rId18"/>
    <p:sldId id="347" r:id="rId19"/>
    <p:sldId id="336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4A5A07-F082-4EC4-9742-D22AFA2AFB98}" type="datetimeFigureOut">
              <a:rPr lang="it-IT" smtClean="0"/>
              <a:t>05/09/2023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A2583F-AA30-4AED-B6D2-F3451E805F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5479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A2583F-AA30-4AED-B6D2-F3451E805F99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2708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70e28bffb8_2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g70e28bffb8_2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70e28bffb8_2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0" name="Google Shape;270;g70e28bffb8_2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5938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7138c9699d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7138c9699d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7138c9699d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g7138c9699d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7138c9699d_1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g7138c9699d_1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7138c9699d_1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g7138c9699d_1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585B5A-CB6D-844F-55A8-FBEAF1780C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E78753B-79CC-C580-9164-FD128C60BC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8D2C1B-061F-50A3-1272-7F3599D79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4AFC3-508D-4EBA-9436-FEF10DEAA21C}" type="datetimeFigureOut">
              <a:rPr lang="it-IT" smtClean="0"/>
              <a:t>05/09/2023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76E1DE3-A1FA-B370-C7CE-A6338A167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72A377D-9FB0-265C-4595-C92D48A2C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1904F-860F-47C1-9B05-77FE6A3E8B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676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D9C0BF-7283-AC62-9BDB-105D49AE3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D5006A-6754-BC74-BFA2-155008662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1950B1A-2D13-EA32-9CAD-706ED412A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4AFC3-508D-4EBA-9436-FEF10DEAA21C}" type="datetimeFigureOut">
              <a:rPr lang="it-IT" smtClean="0"/>
              <a:t>05/09/2023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36DD370-E7D2-38B7-6FAD-52FB62FDB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344D90D-D05B-5E3B-E751-4B7153FC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1904F-860F-47C1-9B05-77FE6A3E8B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277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59B44B-02A1-2638-1605-C0CB5CA4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EE31D0F-2AFB-FC06-09E9-7AF3D7682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087CF6F-3204-689F-E0A9-8F61A5B7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4AFC3-508D-4EBA-9436-FEF10DEAA21C}" type="datetimeFigureOut">
              <a:rPr lang="it-IT" smtClean="0"/>
              <a:t>05/09/2023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0F97424-1F39-CC3D-6D13-027F1A878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90F00D-0723-E426-9416-54DC177E7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1904F-860F-47C1-9B05-77FE6A3E8B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3800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217A7B-EB91-C159-492D-C87A0FEAF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9490C7-1AFD-DCE3-334A-0C8155F55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92044C0-AC74-DD81-E55D-A7D8AF47B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87A9245-B488-D87F-8CD1-745A1AE78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4AFC3-508D-4EBA-9436-FEF10DEAA21C}" type="datetimeFigureOut">
              <a:rPr lang="it-IT" smtClean="0"/>
              <a:t>05/09/2023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D55A772-86FB-971E-44B7-4205FCC4C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4712013-799F-FDEC-DC00-E57DBC8FF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1904F-860F-47C1-9B05-77FE6A3E8B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8105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FF1E66-E139-F07F-1AC1-9CDF30D17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C483C5D-7967-26E8-382C-68FC67699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A2603ED-615D-5C3C-4D1E-A7536B9BF9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A0DEEA5-DF6C-91E9-4F06-2AFB3515B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8BB4827-BF1C-03A4-2B06-E4D8EE7199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9BAEF7E-70EA-5998-4B17-72103952C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4AFC3-508D-4EBA-9436-FEF10DEAA21C}" type="datetimeFigureOut">
              <a:rPr lang="it-IT" smtClean="0"/>
              <a:t>05/09/2023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FCBA44B-8C85-F355-C81E-15F5FEEA9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08166B9-0DDA-B5FD-6723-94C7C34A1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1904F-860F-47C1-9B05-77FE6A3E8B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214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73951A-BEAA-7FAD-78FA-7529AE18E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CA6A26C-DA85-04DF-3DF7-70BED112E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4AFC3-508D-4EBA-9436-FEF10DEAA21C}" type="datetimeFigureOut">
              <a:rPr lang="it-IT" smtClean="0"/>
              <a:t>05/09/2023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74A75F0-63F9-D402-7562-0966074C5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1396945-9075-B1E6-2997-99FBDFF28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1904F-860F-47C1-9B05-77FE6A3E8B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95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6BA1A21-A8A2-4BBF-B18E-15A90C442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4AFC3-508D-4EBA-9436-FEF10DEAA21C}" type="datetimeFigureOut">
              <a:rPr lang="it-IT" smtClean="0"/>
              <a:t>05/09/2023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128423-A8E9-65BA-A515-9EF0D2DFA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C02CA23-01B4-7E6C-6171-7DAF30FE3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1904F-860F-47C1-9B05-77FE6A3E8B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7964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B5D6A7-1091-D1CC-9508-A6BB45851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3DBB3D-758E-4D85-A9AC-F5D93D22C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77B8958-799F-EEB7-A8DF-5198ED91A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6E19DD0-A301-A0C6-C13B-689D26FB1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4AFC3-508D-4EBA-9436-FEF10DEAA21C}" type="datetimeFigureOut">
              <a:rPr lang="it-IT" smtClean="0"/>
              <a:t>05/09/2023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B1D6330-7742-E3C6-7187-7217651B4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4448ADD-1286-B696-9602-084F21DD3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1904F-860F-47C1-9B05-77FE6A3E8B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3353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DE24CA-CCB6-5810-060B-A0F69F8BA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C057787-BEA0-DB14-5B12-A4A4FA878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966998F-B59A-A85E-D1F2-888B70615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E6E53C5-1A41-F680-CDE0-17F7C2570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4AFC3-508D-4EBA-9436-FEF10DEAA21C}" type="datetimeFigureOut">
              <a:rPr lang="it-IT" smtClean="0"/>
              <a:t>05/09/2023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285E6FB-37A9-5C51-CDF9-7E0E51808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BE3430-54A0-66FD-1AF4-75ED5CEEC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1904F-860F-47C1-9B05-77FE6A3E8B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9125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E8016F-1978-2ACB-33A3-63643A336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E5B77F0-0878-7E53-C3EA-30E737140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65E4AF6-AE16-5050-5FAB-4DDECA1EF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4AFC3-508D-4EBA-9436-FEF10DEAA21C}" type="datetimeFigureOut">
              <a:rPr lang="it-IT" smtClean="0"/>
              <a:t>05/09/2023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FADD8F1-DA28-0F33-D5E0-E3B9B3EAD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5E4C7E5-3B33-9AD9-BF50-563C964FE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1904F-860F-47C1-9B05-77FE6A3E8B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7019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7A1B88B-FF8F-7B83-C9E2-73912DCB24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3BAA948-E8FA-FF34-0259-9B8645721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4231FBB-1854-CEF5-08DC-6B02866D4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4AFC3-508D-4EBA-9436-FEF10DEAA21C}" type="datetimeFigureOut">
              <a:rPr lang="it-IT" smtClean="0"/>
              <a:t>05/09/2023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0FDB67F-9C5D-DBF0-09A8-F7F198D9C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507A812-1FA4-96E9-9B57-34F3147C9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1904F-860F-47C1-9B05-77FE6A3E8B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103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01F8E41-796E-767E-B25A-B08E0F2F7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CF4AA08-935B-7CE5-455D-A715A3416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748D162-1908-8D33-BF59-7050C16700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4AFC3-508D-4EBA-9436-FEF10DEAA21C}" type="datetimeFigureOut">
              <a:rPr lang="it-IT" smtClean="0"/>
              <a:t>05/09/2023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86BA0D-ABC2-01B5-715E-3FAE786A2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DBD869-9188-2E1B-18CB-F1507F17F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1904F-860F-47C1-9B05-77FE6A3E8B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0865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C2EF779C-F2D1-08A8-26EA-D7624384A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400" i="0" u="none" strike="noStrike" baseline="0" dirty="0">
                <a:latin typeface="Arial-BoldMT"/>
              </a:rPr>
              <a:t>Testo - Versione pura HTML</a:t>
            </a:r>
            <a:endParaRPr lang="it-IT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F955A37-ED33-D274-DA14-5780B9F62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Un'applicazione web consente la gestione di un sistema di prenotazione per eventi.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L'applicazione supporta registrazione e login mediante una pagina pubblica con opportuno </a:t>
            </a:r>
            <a:r>
              <a:rPr lang="it-IT" sz="1800" b="0" i="0" u="none" strike="noStrike" baseline="0" dirty="0" err="1">
                <a:latin typeface="ArialMT"/>
              </a:rPr>
              <a:t>form</a:t>
            </a:r>
            <a:r>
              <a:rPr lang="it-IT" sz="1800" b="0" i="0" u="none" strike="noStrike" baseline="0" dirty="0">
                <a:latin typeface="ArialMT"/>
              </a:rPr>
              <a:t>.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La registrazione controlla la validità sintattica dell'indirizzo di email e l'uguaglianza tra i campi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"password" e "ripeti password". La registrazione controlla l'unicità dello username.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Ogni evento è memorizzato nella base di dati con i seguenti attributi: un titolo, una descrizione,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una data, l'ora, il luogo, il numero massimo di partecipanti e l'utente che l'ha creato.</a:t>
            </a:r>
          </a:p>
          <a:p>
            <a:pPr marL="0" indent="0" algn="l">
              <a:buNone/>
            </a:pPr>
            <a:endParaRPr lang="it-IT" sz="1800" b="0" i="0" u="none" strike="noStrike" baseline="0" dirty="0">
              <a:latin typeface="ArialMT"/>
            </a:endParaRP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Quando l'utente accede alla HOME PAGE, questa presenta l'elenco degli eventi che ha creato e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l'elenco degli eventi creati da altri utenti, ordinati per data. Quando l'utente clicca su un evento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che appare negli elenchi della HOME PAGE, appare la pagina EVENT PAGE che contiene i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dettagli dell'evento e una </a:t>
            </a:r>
            <a:r>
              <a:rPr lang="it-IT" sz="1800" b="0" i="0" u="none" strike="noStrike" baseline="0" dirty="0" err="1">
                <a:latin typeface="ArialMT"/>
              </a:rPr>
              <a:t>form</a:t>
            </a:r>
            <a:r>
              <a:rPr lang="it-IT" sz="1800" b="0" i="0" u="none" strike="noStrike" baseline="0" dirty="0">
                <a:latin typeface="ArialMT"/>
              </a:rPr>
              <a:t> per registrarsi all'evento, se il numero massimo di partecipanti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non è stato raggiunto. La pagina EVENT PAGE contiene anche un collegamento per tornare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all'HOME PAGE.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L'applicazione consente il logout dell'utente.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80018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C2EF779C-F2D1-08A8-26EA-D7624384A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400" i="0" u="none" strike="noStrike" baseline="0" dirty="0">
                <a:latin typeface="Arial-BoldMT"/>
              </a:rPr>
              <a:t>DB - Versione pura HTML</a:t>
            </a:r>
            <a:endParaRPr lang="it-IT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F955A37-ED33-D274-DA14-5780B9F62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Un'applicazione web consente la gestione di un sistema di prenotazione per eventi.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L'applicazione supporta registrazione e login mediante una pagina pubblica con opportuno </a:t>
            </a:r>
            <a:r>
              <a:rPr lang="it-IT" sz="1800" b="0" i="0" u="none" strike="noStrike" baseline="0" dirty="0" err="1">
                <a:latin typeface="ArialMT"/>
              </a:rPr>
              <a:t>form</a:t>
            </a:r>
            <a:r>
              <a:rPr lang="it-IT" sz="1800" b="0" i="0" u="none" strike="noStrike" baseline="0" dirty="0">
                <a:latin typeface="ArialMT"/>
              </a:rPr>
              <a:t>.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La registrazione controlla la validità sintattica </a:t>
            </a:r>
            <a:r>
              <a:rPr lang="it-IT" sz="2900" dirty="0">
                <a:solidFill>
                  <a:srgbClr val="00B050"/>
                </a:solidFill>
              </a:rPr>
              <a:t>dell'indirizzo di email </a:t>
            </a:r>
            <a:r>
              <a:rPr lang="it-IT" sz="1800" b="0" i="0" u="none" strike="noStrike" baseline="0" dirty="0">
                <a:latin typeface="ArialMT"/>
              </a:rPr>
              <a:t>e l'uguaglianza tra i campi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"</a:t>
            </a:r>
            <a:r>
              <a:rPr lang="it-IT" sz="2900" dirty="0">
                <a:solidFill>
                  <a:srgbClr val="00B050"/>
                </a:solidFill>
              </a:rPr>
              <a:t>password</a:t>
            </a:r>
            <a:r>
              <a:rPr lang="it-IT" sz="1800" b="0" i="0" u="none" strike="noStrike" baseline="0" dirty="0">
                <a:latin typeface="ArialMT"/>
              </a:rPr>
              <a:t>" e "ripeti password". La registrazione controlla l'unicità dello username.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Ogni </a:t>
            </a:r>
            <a:r>
              <a:rPr lang="it-IT" dirty="0">
                <a:solidFill>
                  <a:srgbClr val="FF0000"/>
                </a:solidFill>
              </a:rPr>
              <a:t>evento</a:t>
            </a:r>
            <a:r>
              <a:rPr lang="it-IT" sz="1800" b="0" i="0" u="none" strike="noStrike" baseline="0" dirty="0">
                <a:latin typeface="ArialMT"/>
              </a:rPr>
              <a:t> è memorizzato nella base di dati con i seguenti attributi: un </a:t>
            </a:r>
            <a:r>
              <a:rPr lang="it-IT" dirty="0">
                <a:solidFill>
                  <a:srgbClr val="00B050"/>
                </a:solidFill>
              </a:rPr>
              <a:t>titolo</a:t>
            </a:r>
            <a:r>
              <a:rPr lang="it-IT" sz="1800" b="0" i="0" u="none" strike="noStrike" baseline="0" dirty="0">
                <a:latin typeface="ArialMT"/>
              </a:rPr>
              <a:t>, una </a:t>
            </a:r>
            <a:r>
              <a:rPr lang="it-IT" dirty="0">
                <a:solidFill>
                  <a:srgbClr val="00B050"/>
                </a:solidFill>
              </a:rPr>
              <a:t>descrizione</a:t>
            </a:r>
            <a:r>
              <a:rPr lang="it-IT" sz="1800" b="0" i="0" u="none" strike="noStrike" baseline="0" dirty="0">
                <a:latin typeface="ArialMT"/>
              </a:rPr>
              <a:t>,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una </a:t>
            </a:r>
            <a:r>
              <a:rPr lang="it-IT" dirty="0">
                <a:solidFill>
                  <a:srgbClr val="00B050"/>
                </a:solidFill>
              </a:rPr>
              <a:t>data</a:t>
            </a:r>
            <a:r>
              <a:rPr lang="it-IT" sz="1800" b="0" i="0" u="none" strike="noStrike" baseline="0" dirty="0">
                <a:latin typeface="ArialMT"/>
              </a:rPr>
              <a:t>, </a:t>
            </a:r>
            <a:r>
              <a:rPr lang="it-IT" sz="2900" dirty="0">
                <a:solidFill>
                  <a:srgbClr val="00B050"/>
                </a:solidFill>
              </a:rPr>
              <a:t>l'ora</a:t>
            </a:r>
            <a:r>
              <a:rPr lang="it-IT" sz="1800" b="0" i="0" u="none" strike="noStrike" baseline="0" dirty="0">
                <a:latin typeface="ArialMT"/>
              </a:rPr>
              <a:t>, il </a:t>
            </a:r>
            <a:r>
              <a:rPr lang="it-IT" sz="2900" dirty="0">
                <a:solidFill>
                  <a:srgbClr val="00B050"/>
                </a:solidFill>
              </a:rPr>
              <a:t>luogo</a:t>
            </a:r>
            <a:r>
              <a:rPr lang="it-IT" sz="1800" b="0" i="0" u="none" strike="noStrike" baseline="0" dirty="0">
                <a:latin typeface="ArialMT"/>
              </a:rPr>
              <a:t>, il </a:t>
            </a:r>
            <a:r>
              <a:rPr lang="it-IT" sz="2900" dirty="0">
                <a:solidFill>
                  <a:srgbClr val="00B050"/>
                </a:solidFill>
              </a:rPr>
              <a:t>numero massimo di partecipanti</a:t>
            </a:r>
            <a:r>
              <a:rPr lang="it-IT" sz="1800" b="0" i="0" u="none" strike="noStrike" baseline="0" dirty="0">
                <a:latin typeface="ArialMT"/>
              </a:rPr>
              <a:t> e l'</a:t>
            </a:r>
            <a:r>
              <a:rPr lang="it-IT" sz="2900" dirty="0">
                <a:solidFill>
                  <a:srgbClr val="00B050"/>
                </a:solidFill>
              </a:rPr>
              <a:t>utente</a:t>
            </a:r>
            <a:r>
              <a:rPr lang="it-IT" sz="1800" b="0" i="0" u="none" strike="noStrike" baseline="0" dirty="0">
                <a:latin typeface="ArialMT"/>
              </a:rPr>
              <a:t> </a:t>
            </a:r>
            <a:r>
              <a:rPr lang="it-IT" sz="2900" dirty="0">
                <a:solidFill>
                  <a:schemeClr val="accent1">
                    <a:lumMod val="75000"/>
                  </a:schemeClr>
                </a:solidFill>
              </a:rPr>
              <a:t>che l'ha creato</a:t>
            </a:r>
            <a:r>
              <a:rPr lang="it-IT" sz="1800" b="0" i="0" u="none" strike="noStrike" baseline="0" dirty="0">
                <a:latin typeface="ArialMT"/>
              </a:rPr>
              <a:t>.</a:t>
            </a:r>
          </a:p>
          <a:p>
            <a:pPr marL="0" indent="0" algn="l">
              <a:buNone/>
            </a:pPr>
            <a:endParaRPr lang="it-IT" sz="2900" dirty="0">
              <a:solidFill>
                <a:srgbClr val="00B050"/>
              </a:solidFill>
            </a:endParaRP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Quando </a:t>
            </a:r>
            <a:r>
              <a:rPr lang="it-IT" sz="2900" dirty="0">
                <a:solidFill>
                  <a:srgbClr val="FF0000"/>
                </a:solidFill>
              </a:rPr>
              <a:t>l'utente</a:t>
            </a:r>
            <a:r>
              <a:rPr lang="it-IT" sz="1800" b="0" i="0" u="none" strike="noStrike" baseline="0" dirty="0">
                <a:latin typeface="ArialMT"/>
              </a:rPr>
              <a:t> accede alla HOME PAGE, questa presenta l'elenco degli eventi che ha creato e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l'elenco degli eventi creati da altri utenti, ordinati per data. Quando l'utente clicca su un evento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che appare negli elenchi della HOME PAGE, appare la pagina EVENT PAGE che contiene i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dettagli dell'evento e una </a:t>
            </a:r>
            <a:r>
              <a:rPr lang="it-IT" sz="1800" b="0" i="0" u="none" strike="noStrike" baseline="0" dirty="0" err="1">
                <a:latin typeface="ArialMT"/>
              </a:rPr>
              <a:t>form</a:t>
            </a:r>
            <a:r>
              <a:rPr lang="it-IT" sz="1800" b="0" i="0" u="none" strike="noStrike" baseline="0" dirty="0">
                <a:latin typeface="ArialMT"/>
              </a:rPr>
              <a:t> per registrarsi all'evento, se il numero massimo di partecipanti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non è stato raggiunto. La pagina EVENT PAGE contiene anche un collegamento per tornare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all'HOME PAGE.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L'applicazione consente il logout dell'utente.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Entities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attributes</a:t>
            </a:r>
            <a:r>
              <a:rPr lang="en-US" dirty="0"/>
              <a:t>,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relationships</a:t>
            </a:r>
          </a:p>
          <a:p>
            <a:pPr marL="0" indent="0" algn="l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08296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Database design</a:t>
            </a:r>
          </a:p>
        </p:txBody>
      </p:sp>
      <p:grpSp>
        <p:nvGrpSpPr>
          <p:cNvPr id="38" name="Gruppo 37">
            <a:extLst>
              <a:ext uri="{FF2B5EF4-FFF2-40B4-BE49-F238E27FC236}">
                <a16:creationId xmlns:a16="http://schemas.microsoft.com/office/drawing/2014/main" id="{D4EAA0FD-0CC4-B92C-9330-77B34AA30A07}"/>
              </a:ext>
            </a:extLst>
          </p:cNvPr>
          <p:cNvGrpSpPr/>
          <p:nvPr/>
        </p:nvGrpSpPr>
        <p:grpSpPr>
          <a:xfrm>
            <a:off x="1527358" y="1690688"/>
            <a:ext cx="9375480" cy="4334412"/>
            <a:chOff x="1572329" y="1333908"/>
            <a:chExt cx="9375480" cy="4334412"/>
          </a:xfrm>
        </p:grpSpPr>
        <p:sp>
          <p:nvSpPr>
            <p:cNvPr id="4" name="Rectangle 3"/>
            <p:cNvSpPr/>
            <p:nvPr/>
          </p:nvSpPr>
          <p:spPr>
            <a:xfrm>
              <a:off x="2759439" y="2749465"/>
              <a:ext cx="1828800" cy="9906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User</a:t>
              </a:r>
            </a:p>
          </p:txBody>
        </p:sp>
        <p:sp>
          <p:nvSpPr>
            <p:cNvPr id="5" name="Diamond 4"/>
            <p:cNvSpPr/>
            <p:nvPr/>
          </p:nvSpPr>
          <p:spPr>
            <a:xfrm>
              <a:off x="5426439" y="1589973"/>
              <a:ext cx="990600" cy="914400"/>
            </a:xfrm>
            <a:prstGeom prst="diamond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" name="Rectangle 5"/>
            <p:cNvSpPr/>
            <p:nvPr/>
          </p:nvSpPr>
          <p:spPr>
            <a:xfrm>
              <a:off x="7483839" y="2762329"/>
              <a:ext cx="1828800" cy="99060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Event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72329" y="2749465"/>
              <a:ext cx="112402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it-IT" u="sng" dirty="0" err="1"/>
                <a:t>iduser</a:t>
              </a:r>
              <a:endParaRPr lang="it-IT" u="sng" dirty="0"/>
            </a:p>
            <a:p>
              <a:pPr algn="r"/>
              <a:r>
                <a:rPr lang="it-IT" dirty="0"/>
                <a:t>username</a:t>
              </a:r>
            </a:p>
            <a:p>
              <a:pPr algn="r"/>
              <a:r>
                <a:rPr lang="it-IT" dirty="0"/>
                <a:t>email</a:t>
              </a:r>
            </a:p>
            <a:p>
              <a:pPr algn="r"/>
              <a:r>
                <a:rPr lang="it-IT" dirty="0"/>
                <a:t>password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438806" y="2657464"/>
              <a:ext cx="1509003" cy="23083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u="sng" dirty="0" err="1"/>
                <a:t>idevent</a:t>
              </a:r>
              <a:endParaRPr lang="it-IT" u="sng" dirty="0"/>
            </a:p>
            <a:p>
              <a:r>
                <a:rPr lang="it-IT" dirty="0" err="1"/>
                <a:t>title</a:t>
              </a:r>
              <a:endParaRPr lang="it-IT" dirty="0"/>
            </a:p>
            <a:p>
              <a:r>
                <a:rPr lang="it-IT" dirty="0" err="1"/>
                <a:t>description</a:t>
              </a:r>
              <a:endParaRPr lang="it-IT" dirty="0"/>
            </a:p>
            <a:p>
              <a:r>
                <a:rPr lang="it-IT" dirty="0"/>
                <a:t>time</a:t>
              </a:r>
            </a:p>
            <a:p>
              <a:r>
                <a:rPr lang="it-IT" dirty="0"/>
                <a:t>Date</a:t>
              </a:r>
            </a:p>
            <a:p>
              <a:r>
                <a:rPr lang="it-IT" dirty="0"/>
                <a:t>location</a:t>
              </a:r>
            </a:p>
            <a:p>
              <a:r>
                <a:rPr lang="it-IT" dirty="0" err="1"/>
                <a:t>maxattendees</a:t>
              </a:r>
              <a:endParaRPr lang="it-IT" dirty="0"/>
            </a:p>
            <a:p>
              <a:endParaRPr lang="it-IT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740639" y="1684518"/>
              <a:ext cx="5132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0:N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13357" y="1684518"/>
              <a:ext cx="4812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1:1</a:t>
              </a:r>
            </a:p>
          </p:txBody>
        </p:sp>
        <p:cxnSp>
          <p:nvCxnSpPr>
            <p:cNvPr id="18" name="Connettore a gomito 17">
              <a:extLst>
                <a:ext uri="{FF2B5EF4-FFF2-40B4-BE49-F238E27FC236}">
                  <a16:creationId xmlns:a16="http://schemas.microsoft.com/office/drawing/2014/main" id="{28EB943A-BC18-B849-E0AA-BDD575B23758}"/>
                </a:ext>
              </a:extLst>
            </p:cNvPr>
            <p:cNvCxnSpPr>
              <a:cxnSpLocks/>
              <a:stCxn id="5" idx="3"/>
              <a:endCxn id="6" idx="0"/>
            </p:cNvCxnSpPr>
            <p:nvPr/>
          </p:nvCxnSpPr>
          <p:spPr>
            <a:xfrm>
              <a:off x="6417039" y="2047173"/>
              <a:ext cx="1981200" cy="715156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a gomito 19">
              <a:extLst>
                <a:ext uri="{FF2B5EF4-FFF2-40B4-BE49-F238E27FC236}">
                  <a16:creationId xmlns:a16="http://schemas.microsoft.com/office/drawing/2014/main" id="{D015674F-79C6-8E05-9300-B74829D5ABAB}"/>
                </a:ext>
              </a:extLst>
            </p:cNvPr>
            <p:cNvCxnSpPr>
              <a:cxnSpLocks/>
              <a:stCxn id="5" idx="1"/>
              <a:endCxn id="4" idx="0"/>
            </p:cNvCxnSpPr>
            <p:nvPr/>
          </p:nvCxnSpPr>
          <p:spPr>
            <a:xfrm rot="10800000" flipV="1">
              <a:off x="3673839" y="2047173"/>
              <a:ext cx="1752600" cy="702292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Diamond 4">
              <a:extLst>
                <a:ext uri="{FF2B5EF4-FFF2-40B4-BE49-F238E27FC236}">
                  <a16:creationId xmlns:a16="http://schemas.microsoft.com/office/drawing/2014/main" id="{2E7C8A58-E51F-C7B9-A667-C0A82C2A119E}"/>
                </a:ext>
              </a:extLst>
            </p:cNvPr>
            <p:cNvSpPr/>
            <p:nvPr/>
          </p:nvSpPr>
          <p:spPr>
            <a:xfrm>
              <a:off x="5426439" y="4486377"/>
              <a:ext cx="990600" cy="914400"/>
            </a:xfrm>
            <a:prstGeom prst="diamond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5" name="TextBox 13">
              <a:extLst>
                <a:ext uri="{FF2B5EF4-FFF2-40B4-BE49-F238E27FC236}">
                  <a16:creationId xmlns:a16="http://schemas.microsoft.com/office/drawing/2014/main" id="{DF1A6ACD-6864-AEEB-4034-CD49257638F4}"/>
                </a:ext>
              </a:extLst>
            </p:cNvPr>
            <p:cNvSpPr txBox="1"/>
            <p:nvPr/>
          </p:nvSpPr>
          <p:spPr>
            <a:xfrm>
              <a:off x="4740639" y="4580922"/>
              <a:ext cx="5132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0:N</a:t>
              </a:r>
            </a:p>
          </p:txBody>
        </p:sp>
        <p:sp>
          <p:nvSpPr>
            <p:cNvPr id="26" name="TextBox 14">
              <a:extLst>
                <a:ext uri="{FF2B5EF4-FFF2-40B4-BE49-F238E27FC236}">
                  <a16:creationId xmlns:a16="http://schemas.microsoft.com/office/drawing/2014/main" id="{2CD471DC-092B-27B1-B7F3-B23CDBF5F369}"/>
                </a:ext>
              </a:extLst>
            </p:cNvPr>
            <p:cNvSpPr txBox="1"/>
            <p:nvPr/>
          </p:nvSpPr>
          <p:spPr>
            <a:xfrm>
              <a:off x="6513356" y="4580922"/>
              <a:ext cx="6656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0:N</a:t>
              </a:r>
            </a:p>
          </p:txBody>
        </p:sp>
        <p:cxnSp>
          <p:nvCxnSpPr>
            <p:cNvPr id="27" name="Connettore a gomito 26">
              <a:extLst>
                <a:ext uri="{FF2B5EF4-FFF2-40B4-BE49-F238E27FC236}">
                  <a16:creationId xmlns:a16="http://schemas.microsoft.com/office/drawing/2014/main" id="{909DE6EC-6FBD-C4DE-EA7C-D042C4C07148}"/>
                </a:ext>
              </a:extLst>
            </p:cNvPr>
            <p:cNvCxnSpPr>
              <a:cxnSpLocks/>
              <a:stCxn id="24" idx="3"/>
              <a:endCxn id="6" idx="2"/>
            </p:cNvCxnSpPr>
            <p:nvPr/>
          </p:nvCxnSpPr>
          <p:spPr>
            <a:xfrm flipV="1">
              <a:off x="6417039" y="3752929"/>
              <a:ext cx="1981200" cy="1190648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a gomito 27">
              <a:extLst>
                <a:ext uri="{FF2B5EF4-FFF2-40B4-BE49-F238E27FC236}">
                  <a16:creationId xmlns:a16="http://schemas.microsoft.com/office/drawing/2014/main" id="{8C353988-B562-F5A9-28B0-BFFCF5BA5D62}"/>
                </a:ext>
              </a:extLst>
            </p:cNvPr>
            <p:cNvCxnSpPr>
              <a:cxnSpLocks/>
              <a:stCxn id="24" idx="1"/>
              <a:endCxn id="4" idx="2"/>
            </p:cNvCxnSpPr>
            <p:nvPr/>
          </p:nvCxnSpPr>
          <p:spPr>
            <a:xfrm rot="10800000">
              <a:off x="3673839" y="3740065"/>
              <a:ext cx="1752600" cy="1203512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11">
              <a:extLst>
                <a:ext uri="{FF2B5EF4-FFF2-40B4-BE49-F238E27FC236}">
                  <a16:creationId xmlns:a16="http://schemas.microsoft.com/office/drawing/2014/main" id="{49743437-3C7E-2B78-CE33-2AD26E241BA0}"/>
                </a:ext>
              </a:extLst>
            </p:cNvPr>
            <p:cNvSpPr txBox="1"/>
            <p:nvPr/>
          </p:nvSpPr>
          <p:spPr>
            <a:xfrm>
              <a:off x="5973878" y="1333908"/>
              <a:ext cx="9826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it-IT" dirty="0" err="1"/>
                <a:t>Creation</a:t>
              </a:r>
              <a:endParaRPr lang="it-IT" dirty="0"/>
            </a:p>
          </p:txBody>
        </p:sp>
        <p:sp>
          <p:nvSpPr>
            <p:cNvPr id="33" name="TextBox 11">
              <a:extLst>
                <a:ext uri="{FF2B5EF4-FFF2-40B4-BE49-F238E27FC236}">
                  <a16:creationId xmlns:a16="http://schemas.microsoft.com/office/drawing/2014/main" id="{9CC4B257-2F4E-EDA2-B227-447656E37496}"/>
                </a:ext>
              </a:extLst>
            </p:cNvPr>
            <p:cNvSpPr txBox="1"/>
            <p:nvPr/>
          </p:nvSpPr>
          <p:spPr>
            <a:xfrm>
              <a:off x="6284979" y="5298988"/>
              <a:ext cx="9412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it-IT" dirty="0"/>
                <a:t>Booking</a:t>
              </a:r>
            </a:p>
          </p:txBody>
        </p:sp>
        <p:sp>
          <p:nvSpPr>
            <p:cNvPr id="34" name="TextBox 11">
              <a:extLst>
                <a:ext uri="{FF2B5EF4-FFF2-40B4-BE49-F238E27FC236}">
                  <a16:creationId xmlns:a16="http://schemas.microsoft.com/office/drawing/2014/main" id="{B98E7989-51A8-227A-4ADC-7D4C64195862}"/>
                </a:ext>
              </a:extLst>
            </p:cNvPr>
            <p:cNvSpPr txBox="1"/>
            <p:nvPr/>
          </p:nvSpPr>
          <p:spPr>
            <a:xfrm>
              <a:off x="7576660" y="1665935"/>
              <a:ext cx="11985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it-IT" dirty="0" err="1"/>
                <a:t>Created</a:t>
              </a:r>
              <a:r>
                <a:rPr lang="it-IT" dirty="0"/>
                <a:t> by</a:t>
              </a:r>
            </a:p>
          </p:txBody>
        </p:sp>
        <p:sp>
          <p:nvSpPr>
            <p:cNvPr id="35" name="TextBox 11">
              <a:extLst>
                <a:ext uri="{FF2B5EF4-FFF2-40B4-BE49-F238E27FC236}">
                  <a16:creationId xmlns:a16="http://schemas.microsoft.com/office/drawing/2014/main" id="{6FF06401-AB41-16EA-BCCC-49C31C15C3BE}"/>
                </a:ext>
              </a:extLst>
            </p:cNvPr>
            <p:cNvSpPr txBox="1"/>
            <p:nvPr/>
          </p:nvSpPr>
          <p:spPr>
            <a:xfrm>
              <a:off x="3394670" y="1684518"/>
              <a:ext cx="8887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it-IT" dirty="0" err="1"/>
                <a:t>Creates</a:t>
              </a:r>
              <a:endParaRPr lang="it-IT" dirty="0"/>
            </a:p>
          </p:txBody>
        </p:sp>
        <p:sp>
          <p:nvSpPr>
            <p:cNvPr id="36" name="TextBox 11">
              <a:extLst>
                <a:ext uri="{FF2B5EF4-FFF2-40B4-BE49-F238E27FC236}">
                  <a16:creationId xmlns:a16="http://schemas.microsoft.com/office/drawing/2014/main" id="{DF5D4F34-2574-ACE7-ACD4-7F9A1BF1A2C7}"/>
                </a:ext>
              </a:extLst>
            </p:cNvPr>
            <p:cNvSpPr txBox="1"/>
            <p:nvPr/>
          </p:nvSpPr>
          <p:spPr>
            <a:xfrm>
              <a:off x="2982394" y="4905263"/>
              <a:ext cx="12754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it-IT" dirty="0" err="1"/>
                <a:t>Registers</a:t>
              </a:r>
              <a:r>
                <a:rPr lang="it-IT" dirty="0"/>
                <a:t> to</a:t>
              </a:r>
            </a:p>
          </p:txBody>
        </p:sp>
        <p:sp>
          <p:nvSpPr>
            <p:cNvPr id="37" name="TextBox 11">
              <a:extLst>
                <a:ext uri="{FF2B5EF4-FFF2-40B4-BE49-F238E27FC236}">
                  <a16:creationId xmlns:a16="http://schemas.microsoft.com/office/drawing/2014/main" id="{0F8D48D5-BB6F-F831-88E3-8F81FC0FB3D5}"/>
                </a:ext>
              </a:extLst>
            </p:cNvPr>
            <p:cNvSpPr txBox="1"/>
            <p:nvPr/>
          </p:nvSpPr>
          <p:spPr>
            <a:xfrm>
              <a:off x="7695957" y="4901743"/>
              <a:ext cx="1165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it-IT" dirty="0" err="1"/>
                <a:t>Booked</a:t>
              </a:r>
              <a:r>
                <a:rPr lang="it-IT" dirty="0"/>
                <a:t> by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2950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Database design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41CDD539-D4FD-2F75-5BF1-FB16E6401C1C}"/>
              </a:ext>
            </a:extLst>
          </p:cNvPr>
          <p:cNvGrpSpPr/>
          <p:nvPr/>
        </p:nvGrpSpPr>
        <p:grpSpPr>
          <a:xfrm>
            <a:off x="1114179" y="2203554"/>
            <a:ext cx="8764705" cy="524656"/>
            <a:chOff x="1131379" y="2203554"/>
            <a:chExt cx="8764705" cy="524656"/>
          </a:xfrm>
        </p:grpSpPr>
        <p:sp>
          <p:nvSpPr>
            <p:cNvPr id="3" name="Rettangolo 2">
              <a:extLst>
                <a:ext uri="{FF2B5EF4-FFF2-40B4-BE49-F238E27FC236}">
                  <a16:creationId xmlns:a16="http://schemas.microsoft.com/office/drawing/2014/main" id="{6470677B-76E7-1324-5FFC-1141FFA3A9E3}"/>
                </a:ext>
              </a:extLst>
            </p:cNvPr>
            <p:cNvSpPr/>
            <p:nvPr/>
          </p:nvSpPr>
          <p:spPr>
            <a:xfrm>
              <a:off x="2625141" y="2203554"/>
              <a:ext cx="7270943" cy="524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it-IT" u="sng" dirty="0" err="1">
                  <a:solidFill>
                    <a:schemeClr val="tx1"/>
                  </a:solidFill>
                </a:rPr>
                <a:t>iduser</a:t>
              </a:r>
              <a:r>
                <a:rPr lang="it-IT" dirty="0">
                  <a:solidFill>
                    <a:schemeClr val="tx1"/>
                  </a:solidFill>
                </a:rPr>
                <a:t> , username, email, password </a:t>
              </a:r>
            </a:p>
          </p:txBody>
        </p: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9186741D-24EF-D302-B713-2036ADDA37B3}"/>
                </a:ext>
              </a:extLst>
            </p:cNvPr>
            <p:cNvSpPr txBox="1"/>
            <p:nvPr/>
          </p:nvSpPr>
          <p:spPr>
            <a:xfrm>
              <a:off x="1131379" y="2281216"/>
              <a:ext cx="14873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dirty="0"/>
                <a:t>USER</a:t>
              </a:r>
            </a:p>
          </p:txBody>
        </p:sp>
      </p:grpSp>
      <p:grpSp>
        <p:nvGrpSpPr>
          <p:cNvPr id="10" name="Gruppo 9">
            <a:extLst>
              <a:ext uri="{FF2B5EF4-FFF2-40B4-BE49-F238E27FC236}">
                <a16:creationId xmlns:a16="http://schemas.microsoft.com/office/drawing/2014/main" id="{DA08DBA5-0C2D-AF5D-A7EA-A2FB1044C536}"/>
              </a:ext>
            </a:extLst>
          </p:cNvPr>
          <p:cNvGrpSpPr/>
          <p:nvPr/>
        </p:nvGrpSpPr>
        <p:grpSpPr>
          <a:xfrm>
            <a:off x="1114179" y="3301116"/>
            <a:ext cx="8764705" cy="524656"/>
            <a:chOff x="1131379" y="2203554"/>
            <a:chExt cx="8764705" cy="524656"/>
          </a:xfrm>
        </p:grpSpPr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4202B8ED-AB92-5EC6-40F7-0D3848FE6199}"/>
                </a:ext>
              </a:extLst>
            </p:cNvPr>
            <p:cNvSpPr/>
            <p:nvPr/>
          </p:nvSpPr>
          <p:spPr>
            <a:xfrm>
              <a:off x="2625141" y="2203554"/>
              <a:ext cx="7270943" cy="524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it-IT" u="sng" dirty="0" err="1">
                  <a:solidFill>
                    <a:schemeClr val="tx1"/>
                  </a:solidFill>
                </a:rPr>
                <a:t>idevent</a:t>
              </a:r>
              <a:r>
                <a:rPr lang="it-IT" dirty="0">
                  <a:solidFill>
                    <a:schemeClr val="tx1"/>
                  </a:solidFill>
                </a:rPr>
                <a:t> , </a:t>
              </a:r>
              <a:r>
                <a:rPr lang="it-IT" u="sng" dirty="0" err="1">
                  <a:solidFill>
                    <a:schemeClr val="tx1"/>
                  </a:solidFill>
                </a:rPr>
                <a:t>idattendee</a:t>
              </a:r>
              <a:endParaRPr lang="it-IT" u="sng" dirty="0">
                <a:solidFill>
                  <a:schemeClr val="tx1"/>
                </a:solidFill>
              </a:endParaRPr>
            </a:p>
          </p:txBody>
        </p:sp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D9785356-BCF9-9209-1B24-B40880D2A65E}"/>
                </a:ext>
              </a:extLst>
            </p:cNvPr>
            <p:cNvSpPr txBox="1"/>
            <p:nvPr/>
          </p:nvSpPr>
          <p:spPr>
            <a:xfrm>
              <a:off x="1131379" y="2281216"/>
              <a:ext cx="14873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dirty="0"/>
                <a:t>BOOKING</a:t>
              </a:r>
            </a:p>
          </p:txBody>
        </p:sp>
      </p:grp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32AEE9B4-A00E-DEDF-D1FF-EEF33325DDC2}"/>
              </a:ext>
            </a:extLst>
          </p:cNvPr>
          <p:cNvGrpSpPr/>
          <p:nvPr/>
        </p:nvGrpSpPr>
        <p:grpSpPr>
          <a:xfrm>
            <a:off x="1128799" y="4445642"/>
            <a:ext cx="8764707" cy="524656"/>
            <a:chOff x="1131379" y="2203554"/>
            <a:chExt cx="8764707" cy="524656"/>
          </a:xfrm>
        </p:grpSpPr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D8E237E5-CD58-3D94-E7D8-E78135F0047E}"/>
                </a:ext>
              </a:extLst>
            </p:cNvPr>
            <p:cNvSpPr/>
            <p:nvPr/>
          </p:nvSpPr>
          <p:spPr>
            <a:xfrm>
              <a:off x="2625141" y="2203554"/>
              <a:ext cx="7270945" cy="5246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it-IT" u="sng" dirty="0" err="1">
                  <a:solidFill>
                    <a:schemeClr val="tx1"/>
                  </a:solidFill>
                </a:rPr>
                <a:t>idevent</a:t>
              </a:r>
              <a:r>
                <a:rPr lang="it-IT" dirty="0">
                  <a:solidFill>
                    <a:schemeClr val="tx1"/>
                  </a:solidFill>
                </a:rPr>
                <a:t> , </a:t>
              </a:r>
              <a:r>
                <a:rPr lang="it-IT" dirty="0" err="1">
                  <a:solidFill>
                    <a:schemeClr val="tx1"/>
                  </a:solidFill>
                </a:rPr>
                <a:t>title</a:t>
              </a:r>
              <a:r>
                <a:rPr lang="it-IT" dirty="0">
                  <a:solidFill>
                    <a:schemeClr val="tx1"/>
                  </a:solidFill>
                </a:rPr>
                <a:t>, </a:t>
              </a:r>
              <a:r>
                <a:rPr lang="it-IT" dirty="0" err="1">
                  <a:solidFill>
                    <a:schemeClr val="tx1"/>
                  </a:solidFill>
                </a:rPr>
                <a:t>description</a:t>
              </a:r>
              <a:r>
                <a:rPr lang="it-IT" dirty="0">
                  <a:solidFill>
                    <a:schemeClr val="tx1"/>
                  </a:solidFill>
                </a:rPr>
                <a:t> , time , date ,  location, </a:t>
              </a:r>
              <a:r>
                <a:rPr lang="it-IT" dirty="0" err="1">
                  <a:solidFill>
                    <a:schemeClr val="tx1"/>
                  </a:solidFill>
                </a:rPr>
                <a:t>maxattendees</a:t>
              </a:r>
              <a:r>
                <a:rPr lang="it-IT" dirty="0">
                  <a:solidFill>
                    <a:schemeClr val="tx1"/>
                  </a:solidFill>
                </a:rPr>
                <a:t> , creator </a:t>
              </a:r>
            </a:p>
          </p:txBody>
        </p:sp>
        <p:sp>
          <p:nvSpPr>
            <p:cNvPr id="21" name="CasellaDiTesto 20">
              <a:extLst>
                <a:ext uri="{FF2B5EF4-FFF2-40B4-BE49-F238E27FC236}">
                  <a16:creationId xmlns:a16="http://schemas.microsoft.com/office/drawing/2014/main" id="{BE729AB5-614F-89B0-62DA-1DB14D37CE04}"/>
                </a:ext>
              </a:extLst>
            </p:cNvPr>
            <p:cNvSpPr txBox="1"/>
            <p:nvPr/>
          </p:nvSpPr>
          <p:spPr>
            <a:xfrm>
              <a:off x="1131379" y="2281216"/>
              <a:ext cx="14873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dirty="0"/>
                <a:t>EVENT</a:t>
              </a:r>
            </a:p>
          </p:txBody>
        </p:sp>
      </p:grpSp>
      <p:cxnSp>
        <p:nvCxnSpPr>
          <p:cNvPr id="23" name="Connettore a gomito 22">
            <a:extLst>
              <a:ext uri="{FF2B5EF4-FFF2-40B4-BE49-F238E27FC236}">
                <a16:creationId xmlns:a16="http://schemas.microsoft.com/office/drawing/2014/main" id="{6602DC2D-BA9A-3C99-E22F-68FF4508CC6B}"/>
              </a:ext>
            </a:extLst>
          </p:cNvPr>
          <p:cNvCxnSpPr>
            <a:cxnSpLocks/>
          </p:cNvCxnSpPr>
          <p:nvPr/>
        </p:nvCxnSpPr>
        <p:spPr>
          <a:xfrm rot="16200000" flipV="1">
            <a:off x="3250676" y="2455118"/>
            <a:ext cx="540000" cy="11520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a gomito 30">
            <a:extLst>
              <a:ext uri="{FF2B5EF4-FFF2-40B4-BE49-F238E27FC236}">
                <a16:creationId xmlns:a16="http://schemas.microsoft.com/office/drawing/2014/main" id="{4A5C7678-6FA1-3C3C-3175-DD223F6546F9}"/>
              </a:ext>
            </a:extLst>
          </p:cNvPr>
          <p:cNvCxnSpPr>
            <a:cxnSpLocks/>
          </p:cNvCxnSpPr>
          <p:nvPr/>
        </p:nvCxnSpPr>
        <p:spPr>
          <a:xfrm rot="5400000">
            <a:off x="2703086" y="4142057"/>
            <a:ext cx="619870" cy="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692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5223"/>
            <a:ext cx="10515600" cy="1325563"/>
          </a:xfrm>
        </p:spPr>
        <p:txBody>
          <a:bodyPr/>
          <a:lstStyle/>
          <a:p>
            <a:r>
              <a:rPr lang="it-IT" dirty="0"/>
              <a:t>Database design 1/3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8BD7F29-A69B-6BD8-E9BC-DB6F5CF13172}"/>
              </a:ext>
            </a:extLst>
          </p:cNvPr>
          <p:cNvSpPr txBox="1"/>
          <p:nvPr/>
        </p:nvSpPr>
        <p:spPr>
          <a:xfrm>
            <a:off x="537410" y="1241406"/>
            <a:ext cx="11117179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CREATE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TABLE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`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user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 (</a:t>
            </a:r>
          </a:p>
          <a:p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</a:t>
            </a:r>
            <a:r>
              <a:rPr lang="it-IT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iduser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 </a:t>
            </a:r>
            <a:r>
              <a:rPr lang="it-IT" sz="1600" b="1" dirty="0" err="1">
                <a:solidFill>
                  <a:srgbClr val="4000C8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NOT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4000C8"/>
                </a:solidFill>
                <a:effectLst/>
                <a:latin typeface="Courier New" panose="02070309020205020404" pitchFamily="49" charset="0"/>
              </a:rPr>
              <a:t>NULL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AUTO_INCREMENT,</a:t>
            </a:r>
          </a:p>
          <a:p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`username` </a:t>
            </a:r>
            <a:r>
              <a:rPr lang="it-IT" sz="1600" b="1" dirty="0" err="1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varchar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(50)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NOT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4000C8"/>
                </a:solidFill>
                <a:effectLst/>
                <a:latin typeface="Courier New" panose="02070309020205020404" pitchFamily="49" charset="0"/>
              </a:rPr>
              <a:t>NULL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`email` </a:t>
            </a:r>
            <a:r>
              <a:rPr lang="it-IT" sz="1600" b="1" dirty="0" err="1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varchar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(50)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NOT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4000C8"/>
                </a:solidFill>
                <a:effectLst/>
                <a:latin typeface="Courier New" panose="02070309020205020404" pitchFamily="49" charset="0"/>
              </a:rPr>
              <a:t>NULL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`password` </a:t>
            </a:r>
            <a:r>
              <a:rPr lang="it-IT" sz="1600" b="1" dirty="0" err="1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varchar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(50)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NOT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4000C8"/>
                </a:solidFill>
                <a:effectLst/>
                <a:latin typeface="Courier New" panose="02070309020205020404" pitchFamily="49" charset="0"/>
              </a:rPr>
              <a:t>NULL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PRIMARY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KEY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(`</a:t>
            </a:r>
            <a:r>
              <a:rPr lang="it-IT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iduser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`),</a:t>
            </a:r>
          </a:p>
          <a:p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UNIQUE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KEY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`</a:t>
            </a:r>
            <a:r>
              <a:rPr lang="it-IT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iduser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 (`</a:t>
            </a:r>
            <a:r>
              <a:rPr lang="it-IT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iduser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`),</a:t>
            </a:r>
          </a:p>
          <a:p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UNIQUE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KEY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`username` (`username`),</a:t>
            </a:r>
          </a:p>
          <a:p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UNIQUE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KEY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`email` (`email`)</a:t>
            </a:r>
          </a:p>
          <a:p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</a:t>
            </a:r>
          </a:p>
          <a:p>
            <a:endParaRPr lang="it-IT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INSERT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INTO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`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user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VALUES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(1,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'andrea'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'andrea@prova.it'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'pswandrea'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),(2,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'daniela'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'daniela@prova.it'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'pswdaniela'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),(3,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'pippo'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'pippo@prova.it'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'pswpippo'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),(4,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'pippo2'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'pippo2@polimi.it'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'anMKaJ@v!KpUzm5'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),(5,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'andrea2'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'andrea2@prova.it'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'pswandrea2'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),(6,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'giorgio'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'giorgio@prova.it'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'pswgiorgio’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949858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5223"/>
            <a:ext cx="10515600" cy="1325563"/>
          </a:xfrm>
        </p:spPr>
        <p:txBody>
          <a:bodyPr/>
          <a:lstStyle/>
          <a:p>
            <a:r>
              <a:rPr lang="it-IT" dirty="0"/>
              <a:t>Database design 2/3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E49E298-621B-696C-5468-339DA798221F}"/>
              </a:ext>
            </a:extLst>
          </p:cNvPr>
          <p:cNvSpPr txBox="1"/>
          <p:nvPr/>
        </p:nvSpPr>
        <p:spPr>
          <a:xfrm>
            <a:off x="387824" y="1203620"/>
            <a:ext cx="11242702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CREATE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TABLE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`event` (</a:t>
            </a:r>
          </a:p>
          <a:p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</a:t>
            </a:r>
            <a:r>
              <a:rPr lang="it-IT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idevent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 </a:t>
            </a:r>
            <a:r>
              <a:rPr lang="it-IT" sz="1600" b="1" dirty="0" err="1">
                <a:solidFill>
                  <a:srgbClr val="4000C8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NOT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4000C8"/>
                </a:solidFill>
                <a:effectLst/>
                <a:latin typeface="Courier New" panose="02070309020205020404" pitchFamily="49" charset="0"/>
              </a:rPr>
              <a:t>NULL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AUTO_INCREMENT,</a:t>
            </a:r>
          </a:p>
          <a:p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</a:t>
            </a:r>
            <a:r>
              <a:rPr lang="it-IT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title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 </a:t>
            </a:r>
            <a:r>
              <a:rPr lang="it-IT" sz="1600" b="1" dirty="0" err="1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varchar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(50)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NOT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4000C8"/>
                </a:solidFill>
                <a:effectLst/>
                <a:latin typeface="Courier New" panose="02070309020205020404" pitchFamily="49" charset="0"/>
              </a:rPr>
              <a:t>NULL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</a:t>
            </a:r>
            <a:r>
              <a:rPr lang="it-IT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description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 </a:t>
            </a:r>
            <a:r>
              <a:rPr lang="it-IT" sz="1600" b="1" dirty="0" err="1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varchar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(140)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NOT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4000C8"/>
                </a:solidFill>
                <a:effectLst/>
                <a:latin typeface="Courier New" panose="02070309020205020404" pitchFamily="49" charset="0"/>
              </a:rPr>
              <a:t>NULL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time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time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NOT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4000C8"/>
                </a:solidFill>
                <a:effectLst/>
                <a:latin typeface="Courier New" panose="02070309020205020404" pitchFamily="49" charset="0"/>
              </a:rPr>
              <a:t>NULL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date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date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NOT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4000C8"/>
                </a:solidFill>
                <a:effectLst/>
                <a:latin typeface="Courier New" panose="02070309020205020404" pitchFamily="49" charset="0"/>
              </a:rPr>
              <a:t>NULL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`location` </a:t>
            </a:r>
            <a:r>
              <a:rPr lang="it-IT" sz="1600" b="1" dirty="0" err="1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varchar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(50)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NOT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4000C8"/>
                </a:solidFill>
                <a:effectLst/>
                <a:latin typeface="Courier New" panose="02070309020205020404" pitchFamily="49" charset="0"/>
              </a:rPr>
              <a:t>NULL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</a:t>
            </a:r>
            <a:r>
              <a:rPr lang="it-IT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maxattendees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 </a:t>
            </a:r>
            <a:r>
              <a:rPr lang="it-IT" sz="1600" b="1" dirty="0" err="1">
                <a:solidFill>
                  <a:srgbClr val="4000C8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NOT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4000C8"/>
                </a:solidFill>
                <a:effectLst/>
                <a:latin typeface="Courier New" panose="02070309020205020404" pitchFamily="49" charset="0"/>
              </a:rPr>
              <a:t>NULL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</a:t>
            </a:r>
            <a:r>
              <a:rPr lang="it-IT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owner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 </a:t>
            </a:r>
            <a:r>
              <a:rPr lang="it-IT" sz="1600" b="1" dirty="0" err="1">
                <a:solidFill>
                  <a:srgbClr val="4000C8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NOT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4000C8"/>
                </a:solidFill>
                <a:effectLst/>
                <a:latin typeface="Courier New" panose="02070309020205020404" pitchFamily="49" charset="0"/>
              </a:rPr>
              <a:t>NULL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PRIMARY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KEY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(`</a:t>
            </a:r>
            <a:r>
              <a:rPr lang="it-IT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idevent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`),</a:t>
            </a:r>
          </a:p>
          <a:p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UNIQUE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KEY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`</a:t>
            </a:r>
            <a:r>
              <a:rPr lang="it-IT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idevent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 (`</a:t>
            </a:r>
            <a:r>
              <a:rPr lang="it-IT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idevent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`),</a:t>
            </a:r>
          </a:p>
          <a:p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KEY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`</a:t>
            </a:r>
            <a:r>
              <a:rPr lang="it-IT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event_owner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 (`</a:t>
            </a:r>
            <a:r>
              <a:rPr lang="it-IT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owner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`),</a:t>
            </a:r>
          </a:p>
          <a:p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CONSTRAINT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`</a:t>
            </a:r>
            <a:r>
              <a:rPr lang="it-IT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event_owner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FOREIGN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KEY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(`</a:t>
            </a:r>
            <a:r>
              <a:rPr lang="it-IT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owner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`)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REFERENCES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`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user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 (`</a:t>
            </a:r>
            <a:r>
              <a:rPr lang="it-IT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iduser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`)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DELETE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CASCADE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UPDATE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CASCADE</a:t>
            </a:r>
            <a:endParaRPr lang="it-IT" sz="16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</a:t>
            </a:r>
          </a:p>
          <a:p>
            <a:endParaRPr lang="it-IT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INSERT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INTO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`event`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VALUES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(1,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'Visita'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 Lab'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'20:30:00'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'2023-10-31'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'Milano'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,10,1),(2,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'Lezione'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'TIW'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'21:00:00'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'2023-10-15'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'Lecco'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,5,2),(3,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'Cinema'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'Turing Story'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'08:00:00'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'2023-09-30'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'Como'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,5,1),(4,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'Esercitazione'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'TIW Thymeleaf'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'10:00:00'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'2023-09-30'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'Milano'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,15,3),(5,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'Esame'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'TIW'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'12:00:00'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'2023-09-15'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'Piacenza'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,3,4),(6,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'Esame'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'API'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'23:59:00'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'2023-08-24'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it-IT" sz="160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'Milano'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,2,4);</a:t>
            </a:r>
          </a:p>
        </p:txBody>
      </p:sp>
    </p:spTree>
    <p:extLst>
      <p:ext uri="{BB962C8B-B14F-4D97-AF65-F5344CB8AC3E}">
        <p14:creationId xmlns:p14="http://schemas.microsoft.com/office/powerpoint/2010/main" val="4019713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5223"/>
            <a:ext cx="10515600" cy="1325563"/>
          </a:xfrm>
        </p:spPr>
        <p:txBody>
          <a:bodyPr/>
          <a:lstStyle/>
          <a:p>
            <a:r>
              <a:rPr lang="it-IT" dirty="0"/>
              <a:t>Database design 3/3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4818E27-BA23-6F62-DB24-08FCB86C3225}"/>
              </a:ext>
            </a:extLst>
          </p:cNvPr>
          <p:cNvSpPr txBox="1"/>
          <p:nvPr/>
        </p:nvSpPr>
        <p:spPr>
          <a:xfrm>
            <a:off x="395784" y="1262376"/>
            <a:ext cx="1115022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CREATE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TABLE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`booking` (</a:t>
            </a:r>
          </a:p>
          <a:p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</a:t>
            </a:r>
            <a:r>
              <a:rPr lang="it-IT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idevent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 </a:t>
            </a:r>
            <a:r>
              <a:rPr lang="it-IT" sz="1600" b="1" dirty="0" err="1">
                <a:solidFill>
                  <a:srgbClr val="4000C8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NOT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4000C8"/>
                </a:solidFill>
                <a:effectLst/>
                <a:latin typeface="Courier New" panose="02070309020205020404" pitchFamily="49" charset="0"/>
              </a:rPr>
              <a:t>NULL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</a:t>
            </a:r>
            <a:r>
              <a:rPr lang="it-IT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idattendee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 </a:t>
            </a:r>
            <a:r>
              <a:rPr lang="it-IT" sz="1600" b="1" dirty="0" err="1">
                <a:solidFill>
                  <a:srgbClr val="4000C8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NOT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4000C8"/>
                </a:solidFill>
                <a:effectLst/>
                <a:latin typeface="Courier New" panose="02070309020205020404" pitchFamily="49" charset="0"/>
              </a:rPr>
              <a:t>NULL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PRIMARY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KEY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(`</a:t>
            </a:r>
            <a:r>
              <a:rPr lang="it-IT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idevent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`,`</a:t>
            </a:r>
            <a:r>
              <a:rPr lang="it-IT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idattendee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`),</a:t>
            </a:r>
          </a:p>
          <a:p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KEY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`</a:t>
            </a:r>
            <a:r>
              <a:rPr lang="it-IT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attendee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 (`</a:t>
            </a:r>
            <a:r>
              <a:rPr lang="it-IT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idattendee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`),</a:t>
            </a:r>
          </a:p>
          <a:p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CONSTRAINT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`</a:t>
            </a:r>
            <a:r>
              <a:rPr lang="it-IT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attendee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FOREIGN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KEY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(`</a:t>
            </a:r>
            <a:r>
              <a:rPr lang="it-IT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idattendee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`)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REFERENCES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`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user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 (`</a:t>
            </a:r>
            <a:r>
              <a:rPr lang="it-IT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iduser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`)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DELETE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CASCADE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UPDATE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CASCADE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CONSTRAINT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`event`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FOREIGN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KEY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(`</a:t>
            </a:r>
            <a:r>
              <a:rPr lang="it-IT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idevent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`)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REFERENCES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`event` (`</a:t>
            </a:r>
            <a:r>
              <a:rPr lang="it-IT" sz="16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idevent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`)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DELETE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CASCADE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UPDATE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CASCADE</a:t>
            </a:r>
            <a:endParaRPr lang="it-IT" sz="16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</a:t>
            </a:r>
          </a:p>
          <a:p>
            <a:endParaRPr lang="it-IT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it-IT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INSERT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INTO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`booking` </a:t>
            </a:r>
            <a:r>
              <a:rPr lang="it-IT" sz="1600" b="1" dirty="0">
                <a:solidFill>
                  <a:srgbClr val="7F0055"/>
                </a:solidFill>
                <a:effectLst/>
                <a:latin typeface="Courier New" panose="02070309020205020404" pitchFamily="49" charset="0"/>
              </a:rPr>
              <a:t>VALUES</a:t>
            </a:r>
            <a:r>
              <a:rPr lang="it-IT" sz="16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(1,1),(2,1),(5,1),(1,2),(2,2),(3,2),(4,3),(3,4),(4,4),(5,5),(4,6),(5,6);</a:t>
            </a:r>
          </a:p>
        </p:txBody>
      </p:sp>
    </p:spTree>
    <p:extLst>
      <p:ext uri="{BB962C8B-B14F-4D97-AF65-F5344CB8AC3E}">
        <p14:creationId xmlns:p14="http://schemas.microsoft.com/office/powerpoint/2010/main" val="3278046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C2EF779C-F2D1-08A8-26EA-D7624384A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400" i="0" u="none" strike="noStrike" baseline="0" dirty="0">
                <a:latin typeface="Arial-BoldMT"/>
              </a:rPr>
              <a:t>Application - Versione pura HTML</a:t>
            </a:r>
            <a:endParaRPr lang="it-IT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F955A37-ED33-D274-DA14-5780B9F62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Un'applicazione web consente la gestione di un sistema di prenotazione per eventi.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L'applicazione supporta </a:t>
            </a:r>
            <a:r>
              <a:rPr lang="it-IT" sz="2900" dirty="0">
                <a:solidFill>
                  <a:srgbClr val="0070C0"/>
                </a:solidFill>
              </a:rPr>
              <a:t>registrazione</a:t>
            </a:r>
            <a:r>
              <a:rPr lang="it-IT" sz="1800" b="0" i="0" u="none" strike="noStrike" baseline="0" dirty="0">
                <a:latin typeface="ArialMT"/>
              </a:rPr>
              <a:t> e </a:t>
            </a:r>
            <a:r>
              <a:rPr lang="it-IT" sz="2900" dirty="0">
                <a:solidFill>
                  <a:srgbClr val="0070C0"/>
                </a:solidFill>
              </a:rPr>
              <a:t>login</a:t>
            </a:r>
            <a:r>
              <a:rPr lang="it-IT" sz="1800" b="0" i="0" u="none" strike="noStrike" baseline="0" dirty="0">
                <a:latin typeface="ArialMT"/>
              </a:rPr>
              <a:t> </a:t>
            </a:r>
            <a:r>
              <a:rPr lang="it-IT" sz="1900" dirty="0">
                <a:latin typeface="ArialMT"/>
              </a:rPr>
              <a:t>mediante una </a:t>
            </a:r>
            <a:r>
              <a:rPr lang="it-IT" sz="2900" dirty="0">
                <a:solidFill>
                  <a:srgbClr val="FF0000"/>
                </a:solidFill>
              </a:rPr>
              <a:t>pagina pubblica </a:t>
            </a:r>
            <a:r>
              <a:rPr lang="it-IT" sz="1800" b="0" i="0" u="none" strike="noStrike" baseline="0" dirty="0">
                <a:latin typeface="ArialMT"/>
              </a:rPr>
              <a:t>con opportuno </a:t>
            </a:r>
            <a:r>
              <a:rPr lang="it-IT" sz="2900" dirty="0" err="1">
                <a:solidFill>
                  <a:srgbClr val="00B050"/>
                </a:solidFill>
              </a:rPr>
              <a:t>form</a:t>
            </a:r>
            <a:r>
              <a:rPr lang="it-IT" sz="1800" b="0" i="0" u="none" strike="noStrike" baseline="0" dirty="0">
                <a:latin typeface="ArialMT"/>
              </a:rPr>
              <a:t>.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La registrazione controlla la validità sintattica dell'indirizzo di email e l'uguaglianza tra i campi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"password" e "ripeti password". La registrazione controlla l'unicità dello username.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Ogni evento è memorizzato nella base di dati con i seguenti attributi: un titolo, una descrizione,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una data, l'ora, il luogo, il numero massimo di partecipanti e l'utente che l'ha creato.</a:t>
            </a:r>
          </a:p>
          <a:p>
            <a:pPr marL="0" indent="0" algn="l">
              <a:buNone/>
            </a:pPr>
            <a:endParaRPr lang="it-IT" sz="800" b="0" i="0" u="none" strike="noStrike" baseline="0" dirty="0">
              <a:latin typeface="ArialMT"/>
            </a:endParaRP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Quando l'utente </a:t>
            </a:r>
            <a:r>
              <a:rPr lang="it-IT" sz="2900" dirty="0">
                <a:solidFill>
                  <a:srgbClr val="0070C0"/>
                </a:solidFill>
              </a:rPr>
              <a:t>accede</a:t>
            </a:r>
            <a:r>
              <a:rPr lang="it-IT" sz="1800" b="0" i="0" u="none" strike="noStrike" baseline="0" dirty="0">
                <a:latin typeface="ArialMT"/>
              </a:rPr>
              <a:t> alla </a:t>
            </a:r>
            <a:r>
              <a:rPr lang="it-IT" dirty="0">
                <a:solidFill>
                  <a:srgbClr val="FF0000"/>
                </a:solidFill>
              </a:rPr>
              <a:t>HOME PAGE</a:t>
            </a:r>
            <a:r>
              <a:rPr lang="it-IT" sz="1800" b="0" i="0" u="none" strike="noStrike" baseline="0" dirty="0">
                <a:latin typeface="ArialMT"/>
              </a:rPr>
              <a:t>, questa presenta </a:t>
            </a:r>
            <a:r>
              <a:rPr lang="it-IT" sz="2300" dirty="0">
                <a:solidFill>
                  <a:srgbClr val="00B050"/>
                </a:solidFill>
              </a:rPr>
              <a:t>l'elenco degli eventi che ha creato </a:t>
            </a:r>
            <a:r>
              <a:rPr lang="it-IT" sz="1800" b="0" i="0" u="none" strike="noStrike" baseline="0" dirty="0">
                <a:latin typeface="ArialMT"/>
              </a:rPr>
              <a:t>e</a:t>
            </a:r>
          </a:p>
          <a:p>
            <a:pPr marL="0" indent="0" algn="l">
              <a:buNone/>
            </a:pPr>
            <a:r>
              <a:rPr lang="it-IT" sz="2300" dirty="0">
                <a:solidFill>
                  <a:srgbClr val="00B050"/>
                </a:solidFill>
              </a:rPr>
              <a:t>l'elenco degli eventi creati da altri utenti</a:t>
            </a:r>
            <a:r>
              <a:rPr lang="it-IT" sz="1800" b="0" i="0" u="none" strike="noStrike" baseline="0" dirty="0">
                <a:latin typeface="ArialMT"/>
              </a:rPr>
              <a:t>, ordinati per data. Quando </a:t>
            </a:r>
            <a:r>
              <a:rPr lang="it-IT" sz="2900" dirty="0">
                <a:solidFill>
                  <a:srgbClr val="0070C0"/>
                </a:solidFill>
              </a:rPr>
              <a:t>l'utente clicca su un evento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che appare negli elenchi della HOME PAGE, appare la pagina </a:t>
            </a:r>
            <a:r>
              <a:rPr lang="it-IT" dirty="0">
                <a:solidFill>
                  <a:srgbClr val="FF0000"/>
                </a:solidFill>
              </a:rPr>
              <a:t>EVENT PAGE </a:t>
            </a:r>
            <a:r>
              <a:rPr lang="it-IT" sz="1800" b="0" i="0" u="none" strike="noStrike" baseline="0" dirty="0">
                <a:latin typeface="ArialMT"/>
              </a:rPr>
              <a:t>che contiene i</a:t>
            </a:r>
          </a:p>
          <a:p>
            <a:pPr marL="0" indent="0" algn="l">
              <a:buNone/>
            </a:pPr>
            <a:r>
              <a:rPr lang="it-IT" sz="2300" dirty="0">
                <a:solidFill>
                  <a:srgbClr val="00B050"/>
                </a:solidFill>
              </a:rPr>
              <a:t>dettagli dell'evento </a:t>
            </a:r>
            <a:r>
              <a:rPr lang="it-IT" sz="1800" b="0" i="0" u="none" strike="noStrike" baseline="0" dirty="0">
                <a:latin typeface="ArialMT"/>
              </a:rPr>
              <a:t>e una </a:t>
            </a:r>
            <a:r>
              <a:rPr lang="it-IT" sz="2300" dirty="0" err="1">
                <a:solidFill>
                  <a:srgbClr val="00B050"/>
                </a:solidFill>
              </a:rPr>
              <a:t>form</a:t>
            </a:r>
            <a:r>
              <a:rPr lang="it-IT" sz="2300" dirty="0">
                <a:solidFill>
                  <a:srgbClr val="00B050"/>
                </a:solidFill>
              </a:rPr>
              <a:t> per </a:t>
            </a:r>
            <a:r>
              <a:rPr lang="it-IT" sz="2900" dirty="0">
                <a:solidFill>
                  <a:schemeClr val="accent6">
                    <a:lumMod val="50000"/>
                  </a:schemeClr>
                </a:solidFill>
              </a:rPr>
              <a:t>registrarsi all'evento</a:t>
            </a:r>
            <a:r>
              <a:rPr lang="it-IT" sz="1800" b="0" i="0" u="none" strike="noStrike" baseline="0" dirty="0">
                <a:latin typeface="ArialMT"/>
              </a:rPr>
              <a:t>, se il numero massimo di partecipanti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non è stato raggiunto. La pagina EVENT PAGE contiene anche </a:t>
            </a:r>
            <a:r>
              <a:rPr lang="it-IT" sz="2300" dirty="0">
                <a:solidFill>
                  <a:srgbClr val="00B050"/>
                </a:solidFill>
              </a:rPr>
              <a:t>un collegamento per tornare</a:t>
            </a:r>
          </a:p>
          <a:p>
            <a:pPr marL="0" indent="0" algn="l">
              <a:buNone/>
            </a:pPr>
            <a:r>
              <a:rPr lang="it-IT" sz="2300" dirty="0">
                <a:solidFill>
                  <a:srgbClr val="00B050"/>
                </a:solidFill>
              </a:rPr>
              <a:t>all'HOME PAGE</a:t>
            </a:r>
            <a:r>
              <a:rPr lang="it-IT" sz="1800" b="0" i="0" u="none" strike="noStrike" baseline="0" dirty="0">
                <a:latin typeface="ArialMT"/>
              </a:rPr>
              <a:t>.</a:t>
            </a:r>
          </a:p>
          <a:p>
            <a:pPr marL="0" indent="0" algn="l">
              <a:buNone/>
            </a:pPr>
            <a:r>
              <a:rPr lang="it-IT" sz="1800" b="0" i="0" u="none" strike="noStrike" baseline="0" dirty="0">
                <a:latin typeface="ArialMT"/>
              </a:rPr>
              <a:t>L'applicazione consente il </a:t>
            </a:r>
            <a:r>
              <a:rPr lang="it-IT" sz="2900" dirty="0">
                <a:solidFill>
                  <a:srgbClr val="0070C0"/>
                </a:solidFill>
              </a:rPr>
              <a:t>logout</a:t>
            </a:r>
            <a:r>
              <a:rPr lang="it-IT" sz="1800" b="0" i="0" u="none" strike="noStrike" baseline="0" dirty="0">
                <a:latin typeface="ArialMT"/>
              </a:rPr>
              <a:t> dell'utente.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Pages (views)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view components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events</a:t>
            </a:r>
            <a:r>
              <a:rPr lang="en-US" dirty="0"/>
              <a:t>,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actions</a:t>
            </a:r>
          </a:p>
          <a:p>
            <a:pPr marL="0" indent="0" algn="l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73149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66D54A-F9F1-4036-D07B-B9D70DF9E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400" i="0" u="none" strike="noStrike" baseline="0" dirty="0">
                <a:latin typeface="Arial-BoldMT"/>
              </a:rPr>
              <a:t>Application design</a:t>
            </a:r>
            <a:endParaRPr lang="it-IT" dirty="0"/>
          </a:p>
        </p:txBody>
      </p:sp>
      <p:sp>
        <p:nvSpPr>
          <p:cNvPr id="4" name="Google Shape;197;p33">
            <a:extLst>
              <a:ext uri="{FF2B5EF4-FFF2-40B4-BE49-F238E27FC236}">
                <a16:creationId xmlns:a16="http://schemas.microsoft.com/office/drawing/2014/main" id="{BFCB5582-8112-E849-081C-D0554986C8AD}"/>
              </a:ext>
            </a:extLst>
          </p:cNvPr>
          <p:cNvSpPr/>
          <p:nvPr/>
        </p:nvSpPr>
        <p:spPr>
          <a:xfrm>
            <a:off x="1049239" y="1349828"/>
            <a:ext cx="2808300" cy="3388181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PAGE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98;p33">
            <a:extLst>
              <a:ext uri="{FF2B5EF4-FFF2-40B4-BE49-F238E27FC236}">
                <a16:creationId xmlns:a16="http://schemas.microsoft.com/office/drawing/2014/main" id="{B89494FF-EB64-0DA0-B804-801F27F409F9}"/>
              </a:ext>
            </a:extLst>
          </p:cNvPr>
          <p:cNvSpPr/>
          <p:nvPr/>
        </p:nvSpPr>
        <p:spPr>
          <a:xfrm>
            <a:off x="1194034" y="1783952"/>
            <a:ext cx="1836300" cy="860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Login form</a:t>
            </a:r>
            <a:br>
              <a:rPr lang="es-419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[field: </a:t>
            </a:r>
            <a:r>
              <a:rPr lang="it-IT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username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field: password]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99;p33">
            <a:extLst>
              <a:ext uri="{FF2B5EF4-FFF2-40B4-BE49-F238E27FC236}">
                <a16:creationId xmlns:a16="http://schemas.microsoft.com/office/drawing/2014/main" id="{02A4BF36-7477-E4A2-5398-412123E16682}"/>
              </a:ext>
            </a:extLst>
          </p:cNvPr>
          <p:cNvSpPr/>
          <p:nvPr/>
        </p:nvSpPr>
        <p:spPr>
          <a:xfrm>
            <a:off x="8973889" y="4556598"/>
            <a:ext cx="2669117" cy="1501301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PAGE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00;p33">
            <a:extLst>
              <a:ext uri="{FF2B5EF4-FFF2-40B4-BE49-F238E27FC236}">
                <a16:creationId xmlns:a16="http://schemas.microsoft.com/office/drawing/2014/main" id="{5E1DB1DF-11EF-DA8B-C3A4-1BA87ECA9C49}"/>
              </a:ext>
            </a:extLst>
          </p:cNvPr>
          <p:cNvSpPr/>
          <p:nvPr/>
        </p:nvSpPr>
        <p:spPr>
          <a:xfrm>
            <a:off x="2915442" y="2075997"/>
            <a:ext cx="288032" cy="216024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" name="Google Shape;201;p33">
            <a:extLst>
              <a:ext uri="{FF2B5EF4-FFF2-40B4-BE49-F238E27FC236}">
                <a16:creationId xmlns:a16="http://schemas.microsoft.com/office/drawing/2014/main" id="{A74315FF-BF15-DD28-BBFD-E67169F2F9E6}"/>
              </a:ext>
            </a:extLst>
          </p:cNvPr>
          <p:cNvCxnSpPr>
            <a:stCxn id="14" idx="2"/>
            <a:endCxn id="20" idx="5"/>
          </p:cNvCxnSpPr>
          <p:nvPr/>
        </p:nvCxnSpPr>
        <p:spPr>
          <a:xfrm flipV="1">
            <a:off x="5452397" y="2188347"/>
            <a:ext cx="2742392" cy="6673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9" name="Google Shape;204;p33">
            <a:extLst>
              <a:ext uri="{FF2B5EF4-FFF2-40B4-BE49-F238E27FC236}">
                <a16:creationId xmlns:a16="http://schemas.microsoft.com/office/drawing/2014/main" id="{717CDFBE-95B1-463F-137B-68A3F0756653}"/>
              </a:ext>
            </a:extLst>
          </p:cNvPr>
          <p:cNvSpPr txBox="1"/>
          <p:nvPr/>
        </p:nvSpPr>
        <p:spPr>
          <a:xfrm>
            <a:off x="3047992" y="1797514"/>
            <a:ext cx="832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" name="Google Shape;205;p33">
            <a:extLst>
              <a:ext uri="{FF2B5EF4-FFF2-40B4-BE49-F238E27FC236}">
                <a16:creationId xmlns:a16="http://schemas.microsoft.com/office/drawing/2014/main" id="{2F916026-EAD8-3908-E30F-387D8995A5B9}"/>
              </a:ext>
            </a:extLst>
          </p:cNvPr>
          <p:cNvCxnSpPr>
            <a:cxnSpLocks/>
            <a:stCxn id="17" idx="4"/>
            <a:endCxn id="4" idx="3"/>
          </p:cNvCxnSpPr>
          <p:nvPr/>
        </p:nvCxnSpPr>
        <p:spPr>
          <a:xfrm rot="5400000">
            <a:off x="3870660" y="2535296"/>
            <a:ext cx="495503" cy="521743"/>
          </a:xfrm>
          <a:prstGeom prst="bentConnector2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11" name="Google Shape;207;p33">
            <a:extLst>
              <a:ext uri="{FF2B5EF4-FFF2-40B4-BE49-F238E27FC236}">
                <a16:creationId xmlns:a16="http://schemas.microsoft.com/office/drawing/2014/main" id="{5EFB299A-86FC-80E8-E679-CD818890F8E7}"/>
              </a:ext>
            </a:extLst>
          </p:cNvPr>
          <p:cNvSpPr txBox="1"/>
          <p:nvPr/>
        </p:nvSpPr>
        <p:spPr>
          <a:xfrm>
            <a:off x="3872469" y="2548089"/>
            <a:ext cx="2488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wrong</a:t>
            </a:r>
            <a:r>
              <a:rPr lang="es-419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419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r>
              <a:rPr lang="es-419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s-419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pswd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08;p33">
            <a:extLst>
              <a:ext uri="{FF2B5EF4-FFF2-40B4-BE49-F238E27FC236}">
                <a16:creationId xmlns:a16="http://schemas.microsoft.com/office/drawing/2014/main" id="{73ADDF14-45C5-99D2-B25A-FD9356046F56}"/>
              </a:ext>
            </a:extLst>
          </p:cNvPr>
          <p:cNvSpPr txBox="1"/>
          <p:nvPr/>
        </p:nvSpPr>
        <p:spPr>
          <a:xfrm>
            <a:off x="5648955" y="1094587"/>
            <a:ext cx="2186700" cy="3078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username, password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" name="Google Shape;209;p33">
            <a:extLst>
              <a:ext uri="{FF2B5EF4-FFF2-40B4-BE49-F238E27FC236}">
                <a16:creationId xmlns:a16="http://schemas.microsoft.com/office/drawing/2014/main" id="{E3633740-3C3B-E7A0-C51C-B84ED7DA68AD}"/>
              </a:ext>
            </a:extLst>
          </p:cNvPr>
          <p:cNvCxnSpPr>
            <a:cxnSpLocks/>
            <a:stCxn id="12" idx="1"/>
            <a:endCxn id="14" idx="0"/>
          </p:cNvCxnSpPr>
          <p:nvPr/>
        </p:nvCxnSpPr>
        <p:spPr>
          <a:xfrm flipH="1">
            <a:off x="4829667" y="1248487"/>
            <a:ext cx="819288" cy="701148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202;p33">
            <a:extLst>
              <a:ext uri="{FF2B5EF4-FFF2-40B4-BE49-F238E27FC236}">
                <a16:creationId xmlns:a16="http://schemas.microsoft.com/office/drawing/2014/main" id="{CE927D79-F28F-E559-BA16-E4728F352B1E}"/>
              </a:ext>
            </a:extLst>
          </p:cNvPr>
          <p:cNvSpPr/>
          <p:nvPr/>
        </p:nvSpPr>
        <p:spPr>
          <a:xfrm>
            <a:off x="4145591" y="1949635"/>
            <a:ext cx="1368152" cy="490769"/>
          </a:xfrm>
          <a:prstGeom prst="parallelogram">
            <a:avLst>
              <a:gd name="adj" fmla="val 25000"/>
            </a:avLst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br>
              <a:rPr lang="es-419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" name="Google Shape;210;p33">
            <a:extLst>
              <a:ext uri="{FF2B5EF4-FFF2-40B4-BE49-F238E27FC236}">
                <a16:creationId xmlns:a16="http://schemas.microsoft.com/office/drawing/2014/main" id="{3CB96DB0-46DE-183F-4B5C-033CA9DDE64B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3203474" y="2184009"/>
            <a:ext cx="997500" cy="114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16" name="Google Shape;211;p33">
            <a:extLst>
              <a:ext uri="{FF2B5EF4-FFF2-40B4-BE49-F238E27FC236}">
                <a16:creationId xmlns:a16="http://schemas.microsoft.com/office/drawing/2014/main" id="{4CBEBF43-2901-7476-9DB8-88F20902DA72}"/>
              </a:ext>
            </a:extLst>
          </p:cNvPr>
          <p:cNvSpPr/>
          <p:nvPr/>
        </p:nvSpPr>
        <p:spPr>
          <a:xfrm>
            <a:off x="5301327" y="2087007"/>
            <a:ext cx="288032" cy="216024"/>
          </a:xfrm>
          <a:prstGeom prst="ellipse">
            <a:avLst/>
          </a:prstGeom>
          <a:solidFill>
            <a:schemeClr val="bg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206;p33">
            <a:extLst>
              <a:ext uri="{FF2B5EF4-FFF2-40B4-BE49-F238E27FC236}">
                <a16:creationId xmlns:a16="http://schemas.microsoft.com/office/drawing/2014/main" id="{0873F96C-39F7-A0E5-D0D9-F5AF222277D2}"/>
              </a:ext>
            </a:extLst>
          </p:cNvPr>
          <p:cNvSpPr/>
          <p:nvPr/>
        </p:nvSpPr>
        <p:spPr>
          <a:xfrm>
            <a:off x="4235266" y="2332392"/>
            <a:ext cx="288032" cy="216024"/>
          </a:xfrm>
          <a:prstGeom prst="ellipse">
            <a:avLst/>
          </a:prstGeom>
          <a:solidFill>
            <a:schemeClr val="bg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212;p33">
            <a:extLst>
              <a:ext uri="{FF2B5EF4-FFF2-40B4-BE49-F238E27FC236}">
                <a16:creationId xmlns:a16="http://schemas.microsoft.com/office/drawing/2014/main" id="{A3B63A18-D80B-D0EC-BE7F-0AD68A9493CF}"/>
              </a:ext>
            </a:extLst>
          </p:cNvPr>
          <p:cNvSpPr txBox="1"/>
          <p:nvPr/>
        </p:nvSpPr>
        <p:spPr>
          <a:xfrm>
            <a:off x="6162200" y="1835278"/>
            <a:ext cx="1551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-&gt; session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213;p33">
            <a:extLst>
              <a:ext uri="{FF2B5EF4-FFF2-40B4-BE49-F238E27FC236}">
                <a16:creationId xmlns:a16="http://schemas.microsoft.com/office/drawing/2014/main" id="{18E3BA1D-D95D-5431-0C13-1D18726B8B44}"/>
              </a:ext>
            </a:extLst>
          </p:cNvPr>
          <p:cNvCxnSpPr>
            <a:cxnSpLocks/>
            <a:stCxn id="20" idx="2"/>
            <a:endCxn id="6" idx="0"/>
          </p:cNvCxnSpPr>
          <p:nvPr/>
        </p:nvCxnSpPr>
        <p:spPr>
          <a:xfrm>
            <a:off x="9752989" y="2188347"/>
            <a:ext cx="555459" cy="2368251"/>
          </a:xfrm>
          <a:prstGeom prst="bentConnector2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0" name="Google Shape;203;p33">
            <a:extLst>
              <a:ext uri="{FF2B5EF4-FFF2-40B4-BE49-F238E27FC236}">
                <a16:creationId xmlns:a16="http://schemas.microsoft.com/office/drawing/2014/main" id="{A87FD245-A622-9A48-2940-B3919F57CFBF}"/>
              </a:ext>
            </a:extLst>
          </p:cNvPr>
          <p:cNvSpPr/>
          <p:nvPr/>
        </p:nvSpPr>
        <p:spPr>
          <a:xfrm>
            <a:off x="8133439" y="1942947"/>
            <a:ext cx="1680900" cy="490800"/>
          </a:xfrm>
          <a:prstGeom prst="parallelogram">
            <a:avLst>
              <a:gd name="adj" fmla="val 25000"/>
            </a:avLst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GoToHome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4;p33">
            <a:extLst>
              <a:ext uri="{FF2B5EF4-FFF2-40B4-BE49-F238E27FC236}">
                <a16:creationId xmlns:a16="http://schemas.microsoft.com/office/drawing/2014/main" id="{26357326-3153-B1CB-3682-8F0000840B7F}"/>
              </a:ext>
            </a:extLst>
          </p:cNvPr>
          <p:cNvSpPr txBox="1"/>
          <p:nvPr/>
        </p:nvSpPr>
        <p:spPr>
          <a:xfrm>
            <a:off x="10308447" y="4018549"/>
            <a:ext cx="1551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00;p33">
            <a:extLst>
              <a:ext uri="{FF2B5EF4-FFF2-40B4-BE49-F238E27FC236}">
                <a16:creationId xmlns:a16="http://schemas.microsoft.com/office/drawing/2014/main" id="{BFDFD14A-08B3-656D-B40C-6FC03083AFD1}"/>
              </a:ext>
            </a:extLst>
          </p:cNvPr>
          <p:cNvSpPr/>
          <p:nvPr/>
        </p:nvSpPr>
        <p:spPr>
          <a:xfrm>
            <a:off x="8829873" y="5808659"/>
            <a:ext cx="288032" cy="216024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Elbow Connector 2">
            <a:extLst>
              <a:ext uri="{FF2B5EF4-FFF2-40B4-BE49-F238E27FC236}">
                <a16:creationId xmlns:a16="http://schemas.microsoft.com/office/drawing/2014/main" id="{1EB7E0BD-C231-D9AB-4A0D-E5BE430B25C2}"/>
              </a:ext>
            </a:extLst>
          </p:cNvPr>
          <p:cNvCxnSpPr>
            <a:cxnSpLocks/>
            <a:stCxn id="76" idx="5"/>
            <a:endCxn id="4" idx="2"/>
          </p:cNvCxnSpPr>
          <p:nvPr/>
        </p:nvCxnSpPr>
        <p:spPr>
          <a:xfrm rot="10800000">
            <a:off x="2453390" y="4738010"/>
            <a:ext cx="3691615" cy="1166989"/>
          </a:xfrm>
          <a:prstGeom prst="bentConnector2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4" name="Google Shape;204;p33">
            <a:extLst>
              <a:ext uri="{FF2B5EF4-FFF2-40B4-BE49-F238E27FC236}">
                <a16:creationId xmlns:a16="http://schemas.microsoft.com/office/drawing/2014/main" id="{D6974BF9-7589-E435-ECDA-78B50D25D53A}"/>
              </a:ext>
            </a:extLst>
          </p:cNvPr>
          <p:cNvSpPr txBox="1"/>
          <p:nvPr/>
        </p:nvSpPr>
        <p:spPr>
          <a:xfrm>
            <a:off x="8141689" y="5526103"/>
            <a:ext cx="832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logout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198;p33">
            <a:extLst>
              <a:ext uri="{FF2B5EF4-FFF2-40B4-BE49-F238E27FC236}">
                <a16:creationId xmlns:a16="http://schemas.microsoft.com/office/drawing/2014/main" id="{3FE571D9-C58C-33C7-C3F1-286FD92B0402}"/>
              </a:ext>
            </a:extLst>
          </p:cNvPr>
          <p:cNvSpPr/>
          <p:nvPr/>
        </p:nvSpPr>
        <p:spPr>
          <a:xfrm>
            <a:off x="1194034" y="3043919"/>
            <a:ext cx="2009441" cy="140587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419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cs typeface="Calibri"/>
                <a:sym typeface="Calibri"/>
              </a:rPr>
              <a:t>Registration form</a:t>
            </a:r>
            <a:br>
              <a:rPr kumimoji="0" lang="es-419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cs typeface="Calibri"/>
                <a:sym typeface="Calibri"/>
              </a:rPr>
            </a:br>
            <a:r>
              <a:rPr kumimoji="0" lang="es-419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cs typeface="Calibri"/>
                <a:sym typeface="Calibri"/>
              </a:rPr>
              <a:t>[field: </a:t>
            </a:r>
            <a:r>
              <a:rPr lang="es-419" sz="1800" kern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username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s-419" sz="1800" kern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f</a:t>
            </a:r>
            <a:r>
              <a:rPr kumimoji="0" lang="es-419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cs typeface="Calibri"/>
                <a:sym typeface="Calibri"/>
              </a:rPr>
              <a:t>ield: email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s-419" sz="1800" kern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field: password1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s-419" sz="1800" kern="0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field: password2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208;p33">
            <a:extLst>
              <a:ext uri="{FF2B5EF4-FFF2-40B4-BE49-F238E27FC236}">
                <a16:creationId xmlns:a16="http://schemas.microsoft.com/office/drawing/2014/main" id="{A3CC1E6E-AD61-2F2C-9131-E109AD0BE3CC}"/>
              </a:ext>
            </a:extLst>
          </p:cNvPr>
          <p:cNvSpPr txBox="1"/>
          <p:nvPr/>
        </p:nvSpPr>
        <p:spPr>
          <a:xfrm>
            <a:off x="9286385" y="1077049"/>
            <a:ext cx="2186700" cy="3078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Session.user.idUser</a:t>
            </a:r>
          </a:p>
        </p:txBody>
      </p:sp>
      <p:cxnSp>
        <p:nvCxnSpPr>
          <p:cNvPr id="46" name="Google Shape;209;p33">
            <a:extLst>
              <a:ext uri="{FF2B5EF4-FFF2-40B4-BE49-F238E27FC236}">
                <a16:creationId xmlns:a16="http://schemas.microsoft.com/office/drawing/2014/main" id="{B6B5A852-C3AB-941B-DED5-6853B286E99F}"/>
              </a:ext>
            </a:extLst>
          </p:cNvPr>
          <p:cNvCxnSpPr>
            <a:cxnSpLocks/>
            <a:stCxn id="45" idx="1"/>
            <a:endCxn id="20" idx="0"/>
          </p:cNvCxnSpPr>
          <p:nvPr/>
        </p:nvCxnSpPr>
        <p:spPr>
          <a:xfrm flipH="1">
            <a:off x="8973889" y="1230949"/>
            <a:ext cx="312496" cy="711998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200;p33">
            <a:extLst>
              <a:ext uri="{FF2B5EF4-FFF2-40B4-BE49-F238E27FC236}">
                <a16:creationId xmlns:a16="http://schemas.microsoft.com/office/drawing/2014/main" id="{EFF67D00-8CCE-7226-1DAE-62C4D8A3B35D}"/>
              </a:ext>
            </a:extLst>
          </p:cNvPr>
          <p:cNvSpPr/>
          <p:nvPr/>
        </p:nvSpPr>
        <p:spPr>
          <a:xfrm>
            <a:off x="3070757" y="3713692"/>
            <a:ext cx="288032" cy="216024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204;p33">
            <a:extLst>
              <a:ext uri="{FF2B5EF4-FFF2-40B4-BE49-F238E27FC236}">
                <a16:creationId xmlns:a16="http://schemas.microsoft.com/office/drawing/2014/main" id="{FBD7CCAE-D900-5F5B-FBE1-7B8795FAC10F}"/>
              </a:ext>
            </a:extLst>
          </p:cNvPr>
          <p:cNvSpPr txBox="1"/>
          <p:nvPr/>
        </p:nvSpPr>
        <p:spPr>
          <a:xfrm>
            <a:off x="3203307" y="3435209"/>
            <a:ext cx="832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210;p33">
            <a:extLst>
              <a:ext uri="{FF2B5EF4-FFF2-40B4-BE49-F238E27FC236}">
                <a16:creationId xmlns:a16="http://schemas.microsoft.com/office/drawing/2014/main" id="{349A494C-B95F-6FC8-996C-54AB33EF1BAC}"/>
              </a:ext>
            </a:extLst>
          </p:cNvPr>
          <p:cNvCxnSpPr>
            <a:cxnSpLocks/>
            <a:stCxn id="48" idx="6"/>
            <a:endCxn id="54" idx="5"/>
          </p:cNvCxnSpPr>
          <p:nvPr/>
        </p:nvCxnSpPr>
        <p:spPr>
          <a:xfrm flipV="1">
            <a:off x="3358789" y="3821405"/>
            <a:ext cx="1225854" cy="299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52" name="Google Shape;208;p33">
            <a:extLst>
              <a:ext uri="{FF2B5EF4-FFF2-40B4-BE49-F238E27FC236}">
                <a16:creationId xmlns:a16="http://schemas.microsoft.com/office/drawing/2014/main" id="{EEF2590E-0512-206F-871B-DD0D63C33FD6}"/>
              </a:ext>
            </a:extLst>
          </p:cNvPr>
          <p:cNvSpPr txBox="1"/>
          <p:nvPr/>
        </p:nvSpPr>
        <p:spPr>
          <a:xfrm>
            <a:off x="6034687" y="2746371"/>
            <a:ext cx="4062078" cy="323675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username, email, password1, password2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209;p33">
            <a:extLst>
              <a:ext uri="{FF2B5EF4-FFF2-40B4-BE49-F238E27FC236}">
                <a16:creationId xmlns:a16="http://schemas.microsoft.com/office/drawing/2014/main" id="{2490FD2E-66FE-232F-06FE-1670E35C6F17}"/>
              </a:ext>
            </a:extLst>
          </p:cNvPr>
          <p:cNvCxnSpPr>
            <a:cxnSpLocks/>
            <a:stCxn id="52" idx="1"/>
            <a:endCxn id="54" idx="0"/>
          </p:cNvCxnSpPr>
          <p:nvPr/>
        </p:nvCxnSpPr>
        <p:spPr>
          <a:xfrm flipH="1">
            <a:off x="5278992" y="2908209"/>
            <a:ext cx="755695" cy="667811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202;p33">
            <a:extLst>
              <a:ext uri="{FF2B5EF4-FFF2-40B4-BE49-F238E27FC236}">
                <a16:creationId xmlns:a16="http://schemas.microsoft.com/office/drawing/2014/main" id="{463995A8-ADCB-A03A-CDAB-14563FA61DBA}"/>
              </a:ext>
            </a:extLst>
          </p:cNvPr>
          <p:cNvSpPr/>
          <p:nvPr/>
        </p:nvSpPr>
        <p:spPr>
          <a:xfrm>
            <a:off x="4523297" y="3576020"/>
            <a:ext cx="1511389" cy="490769"/>
          </a:xfrm>
          <a:prstGeom prst="parallelogram">
            <a:avLst>
              <a:gd name="adj" fmla="val 25000"/>
            </a:avLst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b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Registration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205;p33">
            <a:extLst>
              <a:ext uri="{FF2B5EF4-FFF2-40B4-BE49-F238E27FC236}">
                <a16:creationId xmlns:a16="http://schemas.microsoft.com/office/drawing/2014/main" id="{AA52FBB0-5086-C6F8-FAA0-D030AECDCF50}"/>
              </a:ext>
            </a:extLst>
          </p:cNvPr>
          <p:cNvCxnSpPr>
            <a:cxnSpLocks/>
            <a:stCxn id="61" idx="4"/>
          </p:cNvCxnSpPr>
          <p:nvPr/>
        </p:nvCxnSpPr>
        <p:spPr>
          <a:xfrm rot="5400000">
            <a:off x="4249954" y="3793646"/>
            <a:ext cx="109389" cy="894217"/>
          </a:xfrm>
          <a:prstGeom prst="bentConnector2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60" name="Google Shape;207;p33">
            <a:extLst>
              <a:ext uri="{FF2B5EF4-FFF2-40B4-BE49-F238E27FC236}">
                <a16:creationId xmlns:a16="http://schemas.microsoft.com/office/drawing/2014/main" id="{2004BDE9-32B6-8B5E-76C5-BAD58738D422}"/>
              </a:ext>
            </a:extLst>
          </p:cNvPr>
          <p:cNvSpPr txBox="1"/>
          <p:nvPr/>
        </p:nvSpPr>
        <p:spPr>
          <a:xfrm>
            <a:off x="3952879" y="4216566"/>
            <a:ext cx="2968898" cy="363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wrong user, password, email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206;p33">
            <a:extLst>
              <a:ext uri="{FF2B5EF4-FFF2-40B4-BE49-F238E27FC236}">
                <a16:creationId xmlns:a16="http://schemas.microsoft.com/office/drawing/2014/main" id="{6A352271-04F2-1EC3-78E9-00E227A84B59}"/>
              </a:ext>
            </a:extLst>
          </p:cNvPr>
          <p:cNvSpPr/>
          <p:nvPr/>
        </p:nvSpPr>
        <p:spPr>
          <a:xfrm>
            <a:off x="4607740" y="3970036"/>
            <a:ext cx="288032" cy="216024"/>
          </a:xfrm>
          <a:prstGeom prst="ellipse">
            <a:avLst/>
          </a:prstGeom>
          <a:solidFill>
            <a:schemeClr val="bg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206;p33">
            <a:extLst>
              <a:ext uri="{FF2B5EF4-FFF2-40B4-BE49-F238E27FC236}">
                <a16:creationId xmlns:a16="http://schemas.microsoft.com/office/drawing/2014/main" id="{5E64E791-1270-16D6-C5A1-8C40C238630B}"/>
              </a:ext>
            </a:extLst>
          </p:cNvPr>
          <p:cNvSpPr/>
          <p:nvPr/>
        </p:nvSpPr>
        <p:spPr>
          <a:xfrm>
            <a:off x="5837807" y="3713858"/>
            <a:ext cx="288032" cy="216024"/>
          </a:xfrm>
          <a:prstGeom prst="ellipse">
            <a:avLst/>
          </a:prstGeom>
          <a:solidFill>
            <a:schemeClr val="bg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205;p33">
            <a:extLst>
              <a:ext uri="{FF2B5EF4-FFF2-40B4-BE49-F238E27FC236}">
                <a16:creationId xmlns:a16="http://schemas.microsoft.com/office/drawing/2014/main" id="{B57B4AC6-686D-0251-31BD-6E14B1E4ECF9}"/>
              </a:ext>
            </a:extLst>
          </p:cNvPr>
          <p:cNvCxnSpPr>
            <a:cxnSpLocks/>
            <a:endCxn id="3" idx="5"/>
          </p:cNvCxnSpPr>
          <p:nvPr/>
        </p:nvCxnSpPr>
        <p:spPr>
          <a:xfrm>
            <a:off x="6117352" y="3821404"/>
            <a:ext cx="1933421" cy="3825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75" name="Google Shape;207;p33">
            <a:extLst>
              <a:ext uri="{FF2B5EF4-FFF2-40B4-BE49-F238E27FC236}">
                <a16:creationId xmlns:a16="http://schemas.microsoft.com/office/drawing/2014/main" id="{BD4E56B6-B328-CAEE-41FC-E3FFEF253D90}"/>
              </a:ext>
            </a:extLst>
          </p:cNvPr>
          <p:cNvSpPr txBox="1"/>
          <p:nvPr/>
        </p:nvSpPr>
        <p:spPr>
          <a:xfrm>
            <a:off x="6063685" y="3466941"/>
            <a:ext cx="2968898" cy="363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Correct registration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202;p33">
            <a:extLst>
              <a:ext uri="{FF2B5EF4-FFF2-40B4-BE49-F238E27FC236}">
                <a16:creationId xmlns:a16="http://schemas.microsoft.com/office/drawing/2014/main" id="{11D71483-0974-6020-ED2B-F44E41618039}"/>
              </a:ext>
            </a:extLst>
          </p:cNvPr>
          <p:cNvSpPr/>
          <p:nvPr/>
        </p:nvSpPr>
        <p:spPr>
          <a:xfrm>
            <a:off x="6083658" y="5659613"/>
            <a:ext cx="1511389" cy="490769"/>
          </a:xfrm>
          <a:prstGeom prst="parallelogram">
            <a:avLst>
              <a:gd name="adj" fmla="val 25000"/>
            </a:avLst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Logout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Elbow Connector 2">
            <a:extLst>
              <a:ext uri="{FF2B5EF4-FFF2-40B4-BE49-F238E27FC236}">
                <a16:creationId xmlns:a16="http://schemas.microsoft.com/office/drawing/2014/main" id="{64A7C6C7-8CFE-52F7-D18B-D5133F64A929}"/>
              </a:ext>
            </a:extLst>
          </p:cNvPr>
          <p:cNvCxnSpPr>
            <a:cxnSpLocks/>
            <a:stCxn id="22" idx="2"/>
            <a:endCxn id="76" idx="2"/>
          </p:cNvCxnSpPr>
          <p:nvPr/>
        </p:nvCxnSpPr>
        <p:spPr>
          <a:xfrm rot="10800000">
            <a:off x="7533701" y="5904999"/>
            <a:ext cx="1296172" cy="11673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3" name="Google Shape;203;p33">
            <a:extLst>
              <a:ext uri="{FF2B5EF4-FFF2-40B4-BE49-F238E27FC236}">
                <a16:creationId xmlns:a16="http://schemas.microsoft.com/office/drawing/2014/main" id="{F6B8F5F9-1349-567F-9EDD-F9C999014722}"/>
              </a:ext>
            </a:extLst>
          </p:cNvPr>
          <p:cNvSpPr/>
          <p:nvPr/>
        </p:nvSpPr>
        <p:spPr>
          <a:xfrm>
            <a:off x="7989423" y="3579829"/>
            <a:ext cx="1680900" cy="490800"/>
          </a:xfrm>
          <a:prstGeom prst="parallelogram">
            <a:avLst>
              <a:gd name="adj" fmla="val 25000"/>
            </a:avLst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GoToHome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08;p33">
            <a:extLst>
              <a:ext uri="{FF2B5EF4-FFF2-40B4-BE49-F238E27FC236}">
                <a16:creationId xmlns:a16="http://schemas.microsoft.com/office/drawing/2014/main" id="{103426CA-102F-A07F-DB01-32BCC16E29BE}"/>
              </a:ext>
            </a:extLst>
          </p:cNvPr>
          <p:cNvSpPr txBox="1"/>
          <p:nvPr/>
        </p:nvSpPr>
        <p:spPr>
          <a:xfrm>
            <a:off x="9032583" y="3163221"/>
            <a:ext cx="2186700" cy="3078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Session.user.idUser</a:t>
            </a:r>
          </a:p>
        </p:txBody>
      </p:sp>
      <p:cxnSp>
        <p:nvCxnSpPr>
          <p:cNvPr id="26" name="Google Shape;209;p33">
            <a:extLst>
              <a:ext uri="{FF2B5EF4-FFF2-40B4-BE49-F238E27FC236}">
                <a16:creationId xmlns:a16="http://schemas.microsoft.com/office/drawing/2014/main" id="{48CBADCB-5368-C93C-4078-44E66AB69C61}"/>
              </a:ext>
            </a:extLst>
          </p:cNvPr>
          <p:cNvCxnSpPr>
            <a:cxnSpLocks/>
            <a:stCxn id="25" idx="1"/>
            <a:endCxn id="3" idx="0"/>
          </p:cNvCxnSpPr>
          <p:nvPr/>
        </p:nvCxnSpPr>
        <p:spPr>
          <a:xfrm flipH="1">
            <a:off x="8829873" y="3317121"/>
            <a:ext cx="202710" cy="262708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205;p33">
            <a:extLst>
              <a:ext uri="{FF2B5EF4-FFF2-40B4-BE49-F238E27FC236}">
                <a16:creationId xmlns:a16="http://schemas.microsoft.com/office/drawing/2014/main" id="{2D36B9E9-A767-36EB-2C21-E5A6BDB2703F}"/>
              </a:ext>
            </a:extLst>
          </p:cNvPr>
          <p:cNvCxnSpPr>
            <a:cxnSpLocks/>
            <a:stCxn id="3" idx="4"/>
            <a:endCxn id="6" idx="1"/>
          </p:cNvCxnSpPr>
          <p:nvPr/>
        </p:nvCxnSpPr>
        <p:spPr>
          <a:xfrm rot="16200000" flipH="1">
            <a:off x="8283571" y="4616931"/>
            <a:ext cx="1236620" cy="144016"/>
          </a:xfrm>
          <a:prstGeom prst="bentConnector2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548388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864808-3192-439E-0987-6D1BBD5D9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400" i="0" u="none" strike="noStrike" baseline="0" dirty="0">
                <a:latin typeface="Arial-BoldMT"/>
              </a:rPr>
              <a:t>Application design</a:t>
            </a:r>
            <a:endParaRPr lang="it-IT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FD74F51B-46F8-CD91-0527-45AC60A2A494}"/>
              </a:ext>
            </a:extLst>
          </p:cNvPr>
          <p:cNvSpPr/>
          <p:nvPr/>
        </p:nvSpPr>
        <p:spPr>
          <a:xfrm>
            <a:off x="314349" y="1488312"/>
            <a:ext cx="3455694" cy="521548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75CE8FE-AEC5-F252-A929-632D0B880515}"/>
              </a:ext>
            </a:extLst>
          </p:cNvPr>
          <p:cNvSpPr txBox="1"/>
          <p:nvPr/>
        </p:nvSpPr>
        <p:spPr>
          <a:xfrm>
            <a:off x="598206" y="1564903"/>
            <a:ext cx="1334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HOME PAGE</a:t>
            </a:r>
          </a:p>
        </p:txBody>
      </p:sp>
      <p:sp>
        <p:nvSpPr>
          <p:cNvPr id="7" name="Google Shape;221;p34">
            <a:extLst>
              <a:ext uri="{FF2B5EF4-FFF2-40B4-BE49-F238E27FC236}">
                <a16:creationId xmlns:a16="http://schemas.microsoft.com/office/drawing/2014/main" id="{71A32F7C-A1D1-0E95-9BF1-98AC0D7E2929}"/>
              </a:ext>
            </a:extLst>
          </p:cNvPr>
          <p:cNvSpPr/>
          <p:nvPr/>
        </p:nvSpPr>
        <p:spPr>
          <a:xfrm>
            <a:off x="801342" y="1975028"/>
            <a:ext cx="2535527" cy="220498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9BBB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:List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[databinding: event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Condition: creator=</a:t>
            </a:r>
            <a:r>
              <a:rPr lang="en-US" sz="1600" dirty="0" err="1">
                <a:solidFill>
                  <a:schemeClr val="tx1"/>
                </a:solidFill>
              </a:rPr>
              <a:t>iduser</a:t>
            </a:r>
            <a:r>
              <a:rPr lang="en-US" sz="1600" dirty="0">
                <a:solidFill>
                  <a:schemeClr val="tx1"/>
                </a:solidFill>
              </a:rPr>
              <a:t>]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cs typeface="Calibri"/>
                <a:sym typeface="Calibri"/>
              </a:rPr>
              <a:t>]</a:t>
            </a:r>
          </a:p>
        </p:txBody>
      </p:sp>
      <p:sp>
        <p:nvSpPr>
          <p:cNvPr id="10" name="Google Shape;224;p34">
            <a:extLst>
              <a:ext uri="{FF2B5EF4-FFF2-40B4-BE49-F238E27FC236}">
                <a16:creationId xmlns:a16="http://schemas.microsoft.com/office/drawing/2014/main" id="{ADD5FD83-1C90-2785-D387-81406BE7956F}"/>
              </a:ext>
            </a:extLst>
          </p:cNvPr>
          <p:cNvSpPr/>
          <p:nvPr/>
        </p:nvSpPr>
        <p:spPr>
          <a:xfrm>
            <a:off x="5239975" y="2897647"/>
            <a:ext cx="2151178" cy="490800"/>
          </a:xfrm>
          <a:prstGeom prst="parallelogram">
            <a:avLst>
              <a:gd name="adj" fmla="val 25000"/>
            </a:avLst>
          </a:prstGeom>
          <a:solidFill>
            <a:srgbClr val="FFFFFF"/>
          </a:solidFill>
          <a:ln w="25400" cap="flat" cmpd="sng">
            <a:solidFill>
              <a:srgbClr val="C050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419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cs typeface="Calibri"/>
                <a:sym typeface="Calibri"/>
              </a:rPr>
              <a:t>GetEvent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00;p33">
            <a:extLst>
              <a:ext uri="{FF2B5EF4-FFF2-40B4-BE49-F238E27FC236}">
                <a16:creationId xmlns:a16="http://schemas.microsoft.com/office/drawing/2014/main" id="{C0522E16-395D-8FA0-B582-6CC4069D427C}"/>
              </a:ext>
            </a:extLst>
          </p:cNvPr>
          <p:cNvSpPr/>
          <p:nvPr/>
        </p:nvSpPr>
        <p:spPr>
          <a:xfrm>
            <a:off x="3649985" y="2847508"/>
            <a:ext cx="288032" cy="216024"/>
          </a:xfrm>
          <a:prstGeom prst="ellipse">
            <a:avLst/>
          </a:prstGeom>
          <a:solidFill>
            <a:srgbClr val="4F81BD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Calibri"/>
              <a:cs typeface="Calibri"/>
              <a:sym typeface="Calibri"/>
            </a:endParaRPr>
          </a:p>
        </p:txBody>
      </p:sp>
      <p:cxnSp>
        <p:nvCxnSpPr>
          <p:cNvPr id="13" name="Connettore a gomito 12">
            <a:extLst>
              <a:ext uri="{FF2B5EF4-FFF2-40B4-BE49-F238E27FC236}">
                <a16:creationId xmlns:a16="http://schemas.microsoft.com/office/drawing/2014/main" id="{9C87FA43-7309-70F7-EBED-7E26E109F0BB}"/>
              </a:ext>
            </a:extLst>
          </p:cNvPr>
          <p:cNvCxnSpPr>
            <a:cxnSpLocks/>
            <a:stCxn id="12" idx="6"/>
            <a:endCxn id="10" idx="5"/>
          </p:cNvCxnSpPr>
          <p:nvPr/>
        </p:nvCxnSpPr>
        <p:spPr>
          <a:xfrm>
            <a:off x="3938017" y="2955520"/>
            <a:ext cx="1363308" cy="187527"/>
          </a:xfrm>
          <a:prstGeom prst="bentConnector3">
            <a:avLst/>
          </a:prstGeom>
          <a:ln w="3810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D41AAB2-98C1-8178-1AAF-8ED00BEA28C2}"/>
              </a:ext>
            </a:extLst>
          </p:cNvPr>
          <p:cNvSpPr txBox="1"/>
          <p:nvPr/>
        </p:nvSpPr>
        <p:spPr>
          <a:xfrm>
            <a:off x="3801306" y="2556039"/>
            <a:ext cx="1330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Select event</a:t>
            </a:r>
          </a:p>
        </p:txBody>
      </p:sp>
      <p:sp>
        <p:nvSpPr>
          <p:cNvPr id="18" name="Google Shape;208;p33">
            <a:extLst>
              <a:ext uri="{FF2B5EF4-FFF2-40B4-BE49-F238E27FC236}">
                <a16:creationId xmlns:a16="http://schemas.microsoft.com/office/drawing/2014/main" id="{8FBDB931-5379-9985-BC58-EF2B141403DA}"/>
              </a:ext>
            </a:extLst>
          </p:cNvPr>
          <p:cNvSpPr txBox="1"/>
          <p:nvPr/>
        </p:nvSpPr>
        <p:spPr>
          <a:xfrm>
            <a:off x="7096835" y="1697900"/>
            <a:ext cx="1222666" cy="269915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Iduser, idevent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9BFFEE91-EF09-AEE7-548E-A5424233412D}"/>
              </a:ext>
            </a:extLst>
          </p:cNvPr>
          <p:cNvCxnSpPr>
            <a:cxnSpLocks/>
            <a:stCxn id="18" idx="2"/>
            <a:endCxn id="10" idx="1"/>
          </p:cNvCxnSpPr>
          <p:nvPr/>
        </p:nvCxnSpPr>
        <p:spPr>
          <a:xfrm flipH="1">
            <a:off x="6376914" y="1967815"/>
            <a:ext cx="1331254" cy="9298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oogle Shape;221;p34">
            <a:extLst>
              <a:ext uri="{FF2B5EF4-FFF2-40B4-BE49-F238E27FC236}">
                <a16:creationId xmlns:a16="http://schemas.microsoft.com/office/drawing/2014/main" id="{DE858D3A-97F5-64A6-7B04-C3F048F3AB9F}"/>
              </a:ext>
            </a:extLst>
          </p:cNvPr>
          <p:cNvSpPr/>
          <p:nvPr/>
        </p:nvSpPr>
        <p:spPr>
          <a:xfrm>
            <a:off x="774433" y="4314920"/>
            <a:ext cx="2535526" cy="213543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9BBB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:List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[databinding: event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Condition: creator!=</a:t>
            </a:r>
            <a:r>
              <a:rPr lang="en-US" sz="1600" dirty="0" err="1">
                <a:solidFill>
                  <a:schemeClr val="tx1"/>
                </a:solidFill>
              </a:rPr>
              <a:t>iduser</a:t>
            </a:r>
            <a:r>
              <a:rPr lang="en-US" sz="1600" dirty="0">
                <a:solidFill>
                  <a:schemeClr val="tx1"/>
                </a:solidFill>
              </a:rPr>
              <a:t>]</a:t>
            </a:r>
          </a:p>
          <a:p>
            <a:pPr algn="ctr"/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cs typeface="Calibri"/>
                <a:sym typeface="Calibri"/>
              </a:rPr>
              <a:t>]</a:t>
            </a:r>
          </a:p>
        </p:txBody>
      </p:sp>
      <p:sp>
        <p:nvSpPr>
          <p:cNvPr id="27" name="TextBox 25">
            <a:extLst>
              <a:ext uri="{FF2B5EF4-FFF2-40B4-BE49-F238E27FC236}">
                <a16:creationId xmlns:a16="http://schemas.microsoft.com/office/drawing/2014/main" id="{F41C8590-2070-710C-15EC-86780A3B559B}"/>
              </a:ext>
            </a:extLst>
          </p:cNvPr>
          <p:cNvSpPr txBox="1"/>
          <p:nvPr/>
        </p:nvSpPr>
        <p:spPr>
          <a:xfrm>
            <a:off x="4652053" y="1303646"/>
            <a:ext cx="196323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Session.user.iduser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6F17900-7BA1-5BC2-23D7-85C9ECC324AE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3770043" y="1488312"/>
            <a:ext cx="882010" cy="291469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Google Shape;235;p34">
            <a:extLst>
              <a:ext uri="{FF2B5EF4-FFF2-40B4-BE49-F238E27FC236}">
                <a16:creationId xmlns:a16="http://schemas.microsoft.com/office/drawing/2014/main" id="{EBA9ED6E-C724-F38F-C858-CEE2D8C5A721}"/>
              </a:ext>
            </a:extLst>
          </p:cNvPr>
          <p:cNvSpPr/>
          <p:nvPr/>
        </p:nvSpPr>
        <p:spPr>
          <a:xfrm>
            <a:off x="8628116" y="989351"/>
            <a:ext cx="3080753" cy="5460999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 PAGE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" name="Google Shape;238;p34">
            <a:extLst>
              <a:ext uri="{FF2B5EF4-FFF2-40B4-BE49-F238E27FC236}">
                <a16:creationId xmlns:a16="http://schemas.microsoft.com/office/drawing/2014/main" id="{491E4DF8-860E-B23D-C0B2-D53BD59B9CD5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7329803" y="3143047"/>
            <a:ext cx="1298313" cy="8366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40" name="TextBox 25">
            <a:extLst>
              <a:ext uri="{FF2B5EF4-FFF2-40B4-BE49-F238E27FC236}">
                <a16:creationId xmlns:a16="http://schemas.microsoft.com/office/drawing/2014/main" id="{8E0981D7-2883-29C4-9901-FBE6C51A0B2E}"/>
              </a:ext>
            </a:extLst>
          </p:cNvPr>
          <p:cNvSpPr txBox="1"/>
          <p:nvPr/>
        </p:nvSpPr>
        <p:spPr>
          <a:xfrm>
            <a:off x="4652053" y="1902804"/>
            <a:ext cx="222868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Session.event.idevent</a:t>
            </a:r>
            <a:endParaRPr lang="en-US" dirty="0"/>
          </a:p>
        </p:txBody>
      </p:sp>
      <p:cxnSp>
        <p:nvCxnSpPr>
          <p:cNvPr id="41" name="Straight Connector 27">
            <a:extLst>
              <a:ext uri="{FF2B5EF4-FFF2-40B4-BE49-F238E27FC236}">
                <a16:creationId xmlns:a16="http://schemas.microsoft.com/office/drawing/2014/main" id="{086A9DC9-3E67-2EBA-43AA-D923D836623A}"/>
              </a:ext>
            </a:extLst>
          </p:cNvPr>
          <p:cNvCxnSpPr>
            <a:cxnSpLocks/>
            <a:stCxn id="40" idx="2"/>
          </p:cNvCxnSpPr>
          <p:nvPr/>
        </p:nvCxnSpPr>
        <p:spPr>
          <a:xfrm flipH="1">
            <a:off x="4862198" y="2272136"/>
            <a:ext cx="904199" cy="805386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24">
            <a:extLst>
              <a:ext uri="{FF2B5EF4-FFF2-40B4-BE49-F238E27FC236}">
                <a16:creationId xmlns:a16="http://schemas.microsoft.com/office/drawing/2014/main" id="{C05F1CD7-C40A-C2F7-BEA5-6096F17FB2CC}"/>
              </a:ext>
            </a:extLst>
          </p:cNvPr>
          <p:cNvSpPr/>
          <p:nvPr/>
        </p:nvSpPr>
        <p:spPr>
          <a:xfrm>
            <a:off x="9093644" y="3452707"/>
            <a:ext cx="2088232" cy="186720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Event booking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form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[field: </a:t>
            </a:r>
            <a:r>
              <a:rPr lang="en-US" sz="1600" dirty="0" err="1">
                <a:solidFill>
                  <a:schemeClr val="tx1"/>
                </a:solidFill>
              </a:rPr>
              <a:t>idevent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field: </a:t>
            </a:r>
            <a:r>
              <a:rPr lang="en-US" sz="1600" dirty="0" err="1">
                <a:solidFill>
                  <a:schemeClr val="tx1"/>
                </a:solidFill>
              </a:rPr>
              <a:t>idattendee</a:t>
            </a:r>
            <a:r>
              <a:rPr lang="en-US" sz="1600" dirty="0">
                <a:solidFill>
                  <a:schemeClr val="tx1"/>
                </a:solidFill>
              </a:rPr>
              <a:t>]</a:t>
            </a:r>
          </a:p>
        </p:txBody>
      </p:sp>
      <p:sp>
        <p:nvSpPr>
          <p:cNvPr id="57" name="Oval 28">
            <a:extLst>
              <a:ext uri="{FF2B5EF4-FFF2-40B4-BE49-F238E27FC236}">
                <a16:creationId xmlns:a16="http://schemas.microsoft.com/office/drawing/2014/main" id="{2FD25B0C-4EF6-2C1D-1AF0-3A00BB35C006}"/>
              </a:ext>
            </a:extLst>
          </p:cNvPr>
          <p:cNvSpPr/>
          <p:nvPr/>
        </p:nvSpPr>
        <p:spPr>
          <a:xfrm>
            <a:off x="8965652" y="4049547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29">
            <a:extLst>
              <a:ext uri="{FF2B5EF4-FFF2-40B4-BE49-F238E27FC236}">
                <a16:creationId xmlns:a16="http://schemas.microsoft.com/office/drawing/2014/main" id="{5F50B5C8-B840-91C0-7A9A-B425850DD3B4}"/>
              </a:ext>
            </a:extLst>
          </p:cNvPr>
          <p:cNvSpPr txBox="1"/>
          <p:nvPr/>
        </p:nvSpPr>
        <p:spPr>
          <a:xfrm>
            <a:off x="7429956" y="3781010"/>
            <a:ext cx="1529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createBooking</a:t>
            </a:r>
            <a:endParaRPr lang="en-US" dirty="0"/>
          </a:p>
        </p:txBody>
      </p:sp>
      <p:sp>
        <p:nvSpPr>
          <p:cNvPr id="59" name="Parallelogram 30">
            <a:extLst>
              <a:ext uri="{FF2B5EF4-FFF2-40B4-BE49-F238E27FC236}">
                <a16:creationId xmlns:a16="http://schemas.microsoft.com/office/drawing/2014/main" id="{4AB1B81B-964E-7507-3378-B9B8713E5218}"/>
              </a:ext>
            </a:extLst>
          </p:cNvPr>
          <p:cNvSpPr/>
          <p:nvPr/>
        </p:nvSpPr>
        <p:spPr>
          <a:xfrm>
            <a:off x="5404042" y="3872016"/>
            <a:ext cx="1692793" cy="654359"/>
          </a:xfrm>
          <a:prstGeom prst="parallelogram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Create booking</a:t>
            </a:r>
          </a:p>
        </p:txBody>
      </p:sp>
      <p:cxnSp>
        <p:nvCxnSpPr>
          <p:cNvPr id="60" name="Elbow Connector 31">
            <a:extLst>
              <a:ext uri="{FF2B5EF4-FFF2-40B4-BE49-F238E27FC236}">
                <a16:creationId xmlns:a16="http://schemas.microsoft.com/office/drawing/2014/main" id="{E29F0CF9-BFF5-3E3A-43A1-62400CCEE44E}"/>
              </a:ext>
            </a:extLst>
          </p:cNvPr>
          <p:cNvCxnSpPr>
            <a:cxnSpLocks/>
            <a:stCxn id="57" idx="2"/>
            <a:endCxn id="59" idx="2"/>
          </p:cNvCxnSpPr>
          <p:nvPr/>
        </p:nvCxnSpPr>
        <p:spPr>
          <a:xfrm rot="10800000" flipV="1">
            <a:off x="7015040" y="4193562"/>
            <a:ext cx="1950612" cy="5633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61" name="Elbow Connector 34">
            <a:extLst>
              <a:ext uri="{FF2B5EF4-FFF2-40B4-BE49-F238E27FC236}">
                <a16:creationId xmlns:a16="http://schemas.microsoft.com/office/drawing/2014/main" id="{365A332F-C82A-4441-88A4-1CBA0F00B0B2}"/>
              </a:ext>
            </a:extLst>
          </p:cNvPr>
          <p:cNvCxnSpPr>
            <a:cxnSpLocks/>
            <a:stCxn id="59" idx="5"/>
          </p:cNvCxnSpPr>
          <p:nvPr/>
        </p:nvCxnSpPr>
        <p:spPr>
          <a:xfrm rot="10800000" flipH="1">
            <a:off x="5485837" y="3588844"/>
            <a:ext cx="3132946" cy="610352"/>
          </a:xfrm>
          <a:prstGeom prst="bentConnector3">
            <a:avLst>
              <a:gd name="adj1" fmla="val -9907"/>
            </a:avLst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62" name="TextBox 38">
            <a:extLst>
              <a:ext uri="{FF2B5EF4-FFF2-40B4-BE49-F238E27FC236}">
                <a16:creationId xmlns:a16="http://schemas.microsoft.com/office/drawing/2014/main" id="{CD5485C3-BF15-CE6A-D0C2-E78E4E56B4EA}"/>
              </a:ext>
            </a:extLst>
          </p:cNvPr>
          <p:cNvSpPr txBox="1"/>
          <p:nvPr/>
        </p:nvSpPr>
        <p:spPr>
          <a:xfrm>
            <a:off x="5970718" y="4705142"/>
            <a:ext cx="258801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user.iduser</a:t>
            </a:r>
            <a:r>
              <a:rPr lang="en-US" dirty="0"/>
              <a:t>, </a:t>
            </a:r>
            <a:r>
              <a:rPr lang="en-US" dirty="0" err="1"/>
              <a:t>event.idevent</a:t>
            </a:r>
            <a:endParaRPr lang="en-US" dirty="0"/>
          </a:p>
        </p:txBody>
      </p:sp>
      <p:cxnSp>
        <p:nvCxnSpPr>
          <p:cNvPr id="63" name="Straight Connector 39">
            <a:extLst>
              <a:ext uri="{FF2B5EF4-FFF2-40B4-BE49-F238E27FC236}">
                <a16:creationId xmlns:a16="http://schemas.microsoft.com/office/drawing/2014/main" id="{7C72427F-E96A-42C8-1946-DFDB1B5FE405}"/>
              </a:ext>
            </a:extLst>
          </p:cNvPr>
          <p:cNvCxnSpPr>
            <a:cxnSpLocks/>
            <a:stCxn id="62" idx="0"/>
          </p:cNvCxnSpPr>
          <p:nvPr/>
        </p:nvCxnSpPr>
        <p:spPr>
          <a:xfrm flipV="1">
            <a:off x="7264726" y="4209184"/>
            <a:ext cx="772887" cy="4959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Google Shape;200;p33">
            <a:extLst>
              <a:ext uri="{FF2B5EF4-FFF2-40B4-BE49-F238E27FC236}">
                <a16:creationId xmlns:a16="http://schemas.microsoft.com/office/drawing/2014/main" id="{87D625DF-4D45-BE5B-AE29-73337BAC5908}"/>
              </a:ext>
            </a:extLst>
          </p:cNvPr>
          <p:cNvSpPr/>
          <p:nvPr/>
        </p:nvSpPr>
        <p:spPr>
          <a:xfrm>
            <a:off x="8474767" y="6056987"/>
            <a:ext cx="288032" cy="216024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Elbow Connector 2">
            <a:extLst>
              <a:ext uri="{FF2B5EF4-FFF2-40B4-BE49-F238E27FC236}">
                <a16:creationId xmlns:a16="http://schemas.microsoft.com/office/drawing/2014/main" id="{267ACC0A-6F5D-14A2-7C82-D93D7EDE59A9}"/>
              </a:ext>
            </a:extLst>
          </p:cNvPr>
          <p:cNvCxnSpPr>
            <a:cxnSpLocks/>
            <a:stCxn id="80" idx="2"/>
            <a:endCxn id="107" idx="2"/>
          </p:cNvCxnSpPr>
          <p:nvPr/>
        </p:nvCxnSpPr>
        <p:spPr>
          <a:xfrm rot="10800000" flipV="1">
            <a:off x="7008903" y="6164999"/>
            <a:ext cx="1465864" cy="8866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82" name="Google Shape;204;p33">
            <a:extLst>
              <a:ext uri="{FF2B5EF4-FFF2-40B4-BE49-F238E27FC236}">
                <a16:creationId xmlns:a16="http://schemas.microsoft.com/office/drawing/2014/main" id="{2EB6E69C-0420-A12C-2796-AFC12225B0AC}"/>
              </a:ext>
            </a:extLst>
          </p:cNvPr>
          <p:cNvSpPr txBox="1"/>
          <p:nvPr/>
        </p:nvSpPr>
        <p:spPr>
          <a:xfrm>
            <a:off x="7469634" y="6182729"/>
            <a:ext cx="1511722" cy="244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Page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245;p35">
            <a:extLst>
              <a:ext uri="{FF2B5EF4-FFF2-40B4-BE49-F238E27FC236}">
                <a16:creationId xmlns:a16="http://schemas.microsoft.com/office/drawing/2014/main" id="{98B51051-C58C-010A-1E49-E51E5F51B21D}"/>
              </a:ext>
            </a:extLst>
          </p:cNvPr>
          <p:cNvSpPr/>
          <p:nvPr/>
        </p:nvSpPr>
        <p:spPr>
          <a:xfrm>
            <a:off x="9138995" y="1779781"/>
            <a:ext cx="1949100" cy="12871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 details</a:t>
            </a:r>
            <a:br>
              <a:rPr lang="es-419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it-IT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attributes &amp; </a:t>
            </a:r>
            <a:r>
              <a:rPr lang="it-IT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attendees</a:t>
            </a:r>
            <a:r>
              <a:rPr lang="es-419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TextBox 25">
            <a:extLst>
              <a:ext uri="{FF2B5EF4-FFF2-40B4-BE49-F238E27FC236}">
                <a16:creationId xmlns:a16="http://schemas.microsoft.com/office/drawing/2014/main" id="{EE147A44-143D-6B23-4672-D0839AF89D33}"/>
              </a:ext>
            </a:extLst>
          </p:cNvPr>
          <p:cNvSpPr txBox="1"/>
          <p:nvPr/>
        </p:nvSpPr>
        <p:spPr>
          <a:xfrm>
            <a:off x="6777893" y="5246978"/>
            <a:ext cx="196323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Session.user.iduser</a:t>
            </a:r>
            <a:endParaRPr lang="en-US" dirty="0"/>
          </a:p>
        </p:txBody>
      </p:sp>
      <p:cxnSp>
        <p:nvCxnSpPr>
          <p:cNvPr id="101" name="Straight Connector 27">
            <a:extLst>
              <a:ext uri="{FF2B5EF4-FFF2-40B4-BE49-F238E27FC236}">
                <a16:creationId xmlns:a16="http://schemas.microsoft.com/office/drawing/2014/main" id="{4C959614-968C-A559-3560-B4D513377F34}"/>
              </a:ext>
            </a:extLst>
          </p:cNvPr>
          <p:cNvCxnSpPr>
            <a:cxnSpLocks/>
            <a:stCxn id="100" idx="1"/>
            <a:endCxn id="107" idx="1"/>
          </p:cNvCxnSpPr>
          <p:nvPr/>
        </p:nvCxnSpPr>
        <p:spPr>
          <a:xfrm flipH="1">
            <a:off x="6291153" y="5431644"/>
            <a:ext cx="486740" cy="496821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Google Shape;203;p33">
            <a:extLst>
              <a:ext uri="{FF2B5EF4-FFF2-40B4-BE49-F238E27FC236}">
                <a16:creationId xmlns:a16="http://schemas.microsoft.com/office/drawing/2014/main" id="{FFF0C2B8-C9B2-0949-4136-38847C5B038B}"/>
              </a:ext>
            </a:extLst>
          </p:cNvPr>
          <p:cNvSpPr/>
          <p:nvPr/>
        </p:nvSpPr>
        <p:spPr>
          <a:xfrm>
            <a:off x="5389353" y="5928465"/>
            <a:ext cx="1680900" cy="490800"/>
          </a:xfrm>
          <a:prstGeom prst="parallelogram">
            <a:avLst>
              <a:gd name="adj" fmla="val 25000"/>
            </a:avLst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GoToHome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Elbow Connector 2">
            <a:extLst>
              <a:ext uri="{FF2B5EF4-FFF2-40B4-BE49-F238E27FC236}">
                <a16:creationId xmlns:a16="http://schemas.microsoft.com/office/drawing/2014/main" id="{4DE82101-EDA9-8355-AF7D-561DA25D82F8}"/>
              </a:ext>
            </a:extLst>
          </p:cNvPr>
          <p:cNvCxnSpPr>
            <a:cxnSpLocks/>
            <a:stCxn id="107" idx="5"/>
          </p:cNvCxnSpPr>
          <p:nvPr/>
        </p:nvCxnSpPr>
        <p:spPr>
          <a:xfrm rot="10800000">
            <a:off x="3811953" y="5733999"/>
            <a:ext cx="1638750" cy="439867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735219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66725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Model objects (Beans)</a:t>
            </a:r>
          </a:p>
          <a:p>
            <a:pPr lvl="1"/>
            <a:r>
              <a:rPr lang="en-US" dirty="0"/>
              <a:t>User</a:t>
            </a:r>
          </a:p>
          <a:p>
            <a:pPr lvl="1"/>
            <a:r>
              <a:rPr lang="en-US" dirty="0"/>
              <a:t>Event</a:t>
            </a:r>
          </a:p>
          <a:p>
            <a:pPr lvl="1"/>
            <a:r>
              <a:rPr lang="en-US" dirty="0"/>
              <a:t>Bookings</a:t>
            </a:r>
          </a:p>
          <a:p>
            <a:r>
              <a:rPr lang="en-US" dirty="0"/>
              <a:t>Data Access Objects (Classes)</a:t>
            </a:r>
          </a:p>
          <a:p>
            <a:pPr lvl="1"/>
            <a:r>
              <a:rPr lang="en-US" dirty="0" err="1"/>
              <a:t>UserDAO</a:t>
            </a:r>
            <a:endParaRPr lang="en-US" dirty="0"/>
          </a:p>
          <a:p>
            <a:pPr lvl="2"/>
            <a:r>
              <a:rPr lang="en-US" dirty="0" err="1"/>
              <a:t>CheckCredentials</a:t>
            </a:r>
            <a:r>
              <a:rPr lang="en-US" dirty="0"/>
              <a:t> (username, password)</a:t>
            </a:r>
          </a:p>
          <a:p>
            <a:pPr lvl="2"/>
            <a:r>
              <a:rPr lang="en-US" sz="2100" dirty="0" err="1"/>
              <a:t>AddNewUser</a:t>
            </a:r>
            <a:r>
              <a:rPr lang="en-US" sz="2100" dirty="0"/>
              <a:t> (username, email, password) (*)</a:t>
            </a:r>
          </a:p>
          <a:p>
            <a:pPr lvl="2"/>
            <a:r>
              <a:rPr lang="en-US" dirty="0" err="1"/>
              <a:t>GetIdByUsername</a:t>
            </a:r>
            <a:r>
              <a:rPr lang="en-US" dirty="0"/>
              <a:t> (username)</a:t>
            </a:r>
          </a:p>
          <a:p>
            <a:pPr lvl="2"/>
            <a:r>
              <a:rPr lang="en-US" dirty="0" err="1"/>
              <a:t>GetIdByEmail</a:t>
            </a:r>
            <a:r>
              <a:rPr lang="en-US" dirty="0"/>
              <a:t> (username)</a:t>
            </a:r>
          </a:p>
          <a:p>
            <a:pPr lvl="1"/>
            <a:r>
              <a:rPr lang="en-US" dirty="0" err="1"/>
              <a:t>EventDAO</a:t>
            </a:r>
            <a:endParaRPr lang="en-US" dirty="0"/>
          </a:p>
          <a:p>
            <a:pPr lvl="2"/>
            <a:r>
              <a:rPr lang="en-US" dirty="0" err="1"/>
              <a:t>findOwnEventByUser</a:t>
            </a:r>
            <a:r>
              <a:rPr lang="en-US" dirty="0"/>
              <a:t> (</a:t>
            </a:r>
            <a:r>
              <a:rPr lang="en-US" dirty="0" err="1"/>
              <a:t>iduser</a:t>
            </a:r>
            <a:r>
              <a:rPr lang="en-US" dirty="0"/>
              <a:t>)</a:t>
            </a:r>
          </a:p>
          <a:p>
            <a:pPr lvl="2"/>
            <a:r>
              <a:rPr lang="en-US" dirty="0" err="1"/>
              <a:t>findNotOwnEventByUser</a:t>
            </a:r>
            <a:r>
              <a:rPr lang="en-US" dirty="0"/>
              <a:t> (</a:t>
            </a:r>
            <a:r>
              <a:rPr lang="en-US" dirty="0" err="1"/>
              <a:t>iduser</a:t>
            </a:r>
            <a:r>
              <a:rPr lang="en-US" dirty="0"/>
              <a:t>)</a:t>
            </a:r>
          </a:p>
          <a:p>
            <a:pPr lvl="2"/>
            <a:r>
              <a:rPr lang="en-US" dirty="0" err="1"/>
              <a:t>findEventById</a:t>
            </a:r>
            <a:r>
              <a:rPr lang="en-US" dirty="0"/>
              <a:t> (</a:t>
            </a:r>
            <a:r>
              <a:rPr lang="en-US" dirty="0" err="1"/>
              <a:t>idevent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BookingDAO</a:t>
            </a:r>
            <a:endParaRPr lang="en-US" dirty="0"/>
          </a:p>
          <a:p>
            <a:pPr lvl="2"/>
            <a:r>
              <a:rPr lang="en-US" dirty="0" err="1"/>
              <a:t>AddBooking</a:t>
            </a:r>
            <a:r>
              <a:rPr lang="en-US" dirty="0"/>
              <a:t> (</a:t>
            </a:r>
            <a:r>
              <a:rPr lang="en-US" dirty="0" err="1"/>
              <a:t>idevent</a:t>
            </a:r>
            <a:r>
              <a:rPr lang="en-US" dirty="0"/>
              <a:t>, </a:t>
            </a:r>
            <a:r>
              <a:rPr lang="en-US" dirty="0" err="1"/>
              <a:t>idattendee</a:t>
            </a:r>
            <a:r>
              <a:rPr lang="en-US" dirty="0"/>
              <a:t>)</a:t>
            </a:r>
          </a:p>
          <a:p>
            <a:pPr lvl="2"/>
            <a:r>
              <a:rPr lang="en-US" dirty="0" err="1"/>
              <a:t>findBookingsByEvent</a:t>
            </a:r>
            <a:r>
              <a:rPr lang="en-US" dirty="0"/>
              <a:t> (</a:t>
            </a:r>
            <a:r>
              <a:rPr lang="en-US" dirty="0" err="1"/>
              <a:t>idevent</a:t>
            </a:r>
            <a:r>
              <a:rPr lang="en-US" dirty="0"/>
              <a:t>)</a:t>
            </a:r>
          </a:p>
          <a:p>
            <a:pPr lvl="2"/>
            <a:r>
              <a:rPr lang="en-US" dirty="0" err="1"/>
              <a:t>findBooking</a:t>
            </a:r>
            <a:r>
              <a:rPr lang="en-US" dirty="0"/>
              <a:t> (</a:t>
            </a:r>
            <a:r>
              <a:rPr lang="en-US" dirty="0" err="1"/>
              <a:t>idevent</a:t>
            </a:r>
            <a:r>
              <a:rPr lang="en-US" dirty="0"/>
              <a:t>, </a:t>
            </a:r>
            <a:r>
              <a:rPr lang="en-US" dirty="0" err="1"/>
              <a:t>idattendee</a:t>
            </a:r>
            <a:r>
              <a:rPr lang="en-US" dirty="0"/>
              <a:t>)</a:t>
            </a:r>
          </a:p>
          <a:p>
            <a:pPr lvl="2"/>
            <a:r>
              <a:rPr lang="en-US" dirty="0" err="1"/>
              <a:t>countBookingByEvent</a:t>
            </a:r>
            <a:r>
              <a:rPr lang="en-US" dirty="0"/>
              <a:t> (</a:t>
            </a:r>
            <a:r>
              <a:rPr lang="en-US" dirty="0" err="1"/>
              <a:t>idevent</a:t>
            </a:r>
            <a:r>
              <a:rPr lang="en-US" dirty="0"/>
              <a:t>)</a:t>
            </a:r>
          </a:p>
          <a:p>
            <a:pPr lvl="2"/>
            <a:r>
              <a:rPr lang="en-US" dirty="0" err="1"/>
              <a:t>checkBooking</a:t>
            </a:r>
            <a:r>
              <a:rPr lang="en-US" dirty="0"/>
              <a:t> (</a:t>
            </a:r>
            <a:r>
              <a:rPr lang="en-US" dirty="0" err="1"/>
              <a:t>idevent</a:t>
            </a:r>
            <a:r>
              <a:rPr lang="en-US" dirty="0"/>
              <a:t>, </a:t>
            </a:r>
            <a:r>
              <a:rPr lang="en-US" dirty="0" err="1"/>
              <a:t>idattendee</a:t>
            </a:r>
            <a:r>
              <a:rPr lang="en-US" dirty="0"/>
              <a:t>)</a:t>
            </a:r>
          </a:p>
          <a:p>
            <a:pPr lvl="2"/>
            <a:endParaRPr lang="en-US" dirty="0">
              <a:highlight>
                <a:srgbClr val="FFFF00"/>
              </a:highlight>
            </a:endParaRPr>
          </a:p>
          <a:p>
            <a:pPr lvl="2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825625"/>
            <a:ext cx="5956092" cy="435133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Controllers (servlets) </a:t>
            </a:r>
          </a:p>
          <a:p>
            <a:pPr lvl="1"/>
            <a:r>
              <a:rPr lang="en-US" dirty="0" err="1"/>
              <a:t>CheckLogin</a:t>
            </a:r>
            <a:r>
              <a:rPr lang="en-US" dirty="0"/>
              <a:t> POST</a:t>
            </a:r>
          </a:p>
          <a:p>
            <a:pPr lvl="1"/>
            <a:r>
              <a:rPr lang="en-US" dirty="0" err="1"/>
              <a:t>CheckRegistration</a:t>
            </a:r>
            <a:r>
              <a:rPr lang="en-US" dirty="0"/>
              <a:t> POST</a:t>
            </a:r>
            <a:endParaRPr lang="en-US" b="1" dirty="0"/>
          </a:p>
          <a:p>
            <a:pPr lvl="1"/>
            <a:r>
              <a:rPr lang="en-US" dirty="0" err="1"/>
              <a:t>GoToHome</a:t>
            </a:r>
            <a:r>
              <a:rPr lang="en-US" dirty="0"/>
              <a:t> GET</a:t>
            </a:r>
          </a:p>
          <a:p>
            <a:pPr lvl="1"/>
            <a:r>
              <a:rPr lang="en-US" dirty="0"/>
              <a:t>Logout GET</a:t>
            </a:r>
          </a:p>
          <a:p>
            <a:pPr lvl="1"/>
            <a:r>
              <a:rPr lang="en-US" dirty="0" err="1"/>
              <a:t>GetEvent</a:t>
            </a:r>
            <a:r>
              <a:rPr lang="en-US" dirty="0"/>
              <a:t> GET</a:t>
            </a:r>
          </a:p>
          <a:p>
            <a:pPr lvl="1"/>
            <a:r>
              <a:rPr lang="en-US" dirty="0" err="1"/>
              <a:t>CreateBooking</a:t>
            </a:r>
            <a:r>
              <a:rPr lang="en-US" dirty="0"/>
              <a:t> POST</a:t>
            </a:r>
          </a:p>
          <a:p>
            <a:r>
              <a:rPr lang="en-US" dirty="0"/>
              <a:t>Views (Templates) </a:t>
            </a:r>
          </a:p>
          <a:p>
            <a:pPr lvl="1"/>
            <a:r>
              <a:rPr lang="en-US" dirty="0"/>
              <a:t>index.html Public Page</a:t>
            </a:r>
          </a:p>
          <a:p>
            <a:pPr lvl="1"/>
            <a:r>
              <a:rPr lang="en-US" dirty="0"/>
              <a:t>home.html Home Page</a:t>
            </a:r>
            <a:r>
              <a:rPr lang="en-US" dirty="0">
                <a:sym typeface="Wingdings" panose="05000000000000000000" pitchFamily="2" charset="2"/>
              </a:rPr>
              <a:t> </a:t>
            </a:r>
          </a:p>
          <a:p>
            <a:pPr lvl="1"/>
            <a:r>
              <a:rPr lang="en-US" dirty="0"/>
              <a:t>event.html Event Page</a:t>
            </a:r>
          </a:p>
          <a:p>
            <a:r>
              <a:rPr lang="en-US" dirty="0"/>
              <a:t>The database connection is created by controllers in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method and passed to the DAO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837F5F2-D4A9-2358-CFBA-81C18C3B8C77}"/>
              </a:ext>
            </a:extLst>
          </p:cNvPr>
          <p:cNvSpPr txBox="1"/>
          <p:nvPr/>
        </p:nvSpPr>
        <p:spPr>
          <a:xfrm>
            <a:off x="5681272" y="734518"/>
            <a:ext cx="52915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(*) = check correct email address and equal passwords by controllers not by DAO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4380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7"/>
          <p:cNvSpPr txBox="1">
            <a:spLocks noGrp="1"/>
          </p:cNvSpPr>
          <p:nvPr>
            <p:ph type="title"/>
          </p:nvPr>
        </p:nvSpPr>
        <p:spPr>
          <a:xfrm>
            <a:off x="609600" y="274633"/>
            <a:ext cx="10972800" cy="100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s-419"/>
              <a:t>Event: login</a:t>
            </a:r>
            <a:endParaRPr/>
          </a:p>
        </p:txBody>
      </p:sp>
      <p:sp>
        <p:nvSpPr>
          <p:cNvPr id="273" name="Google Shape;273;p37"/>
          <p:cNvSpPr/>
          <p:nvPr/>
        </p:nvSpPr>
        <p:spPr>
          <a:xfrm>
            <a:off x="1156827" y="1428067"/>
            <a:ext cx="1752800" cy="381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CheckLogin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p37"/>
          <p:cNvCxnSpPr>
            <a:stCxn id="273" idx="2"/>
          </p:cNvCxnSpPr>
          <p:nvPr/>
        </p:nvCxnSpPr>
        <p:spPr>
          <a:xfrm flipH="1">
            <a:off x="2000427" y="1809267"/>
            <a:ext cx="32800" cy="4487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275" name="Google Shape;275;p37"/>
          <p:cNvCxnSpPr/>
          <p:nvPr/>
        </p:nvCxnSpPr>
        <p:spPr>
          <a:xfrm>
            <a:off x="572628" y="2952067"/>
            <a:ext cx="11684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76" name="Google Shape;276;p37"/>
          <p:cNvSpPr txBox="1"/>
          <p:nvPr/>
        </p:nvSpPr>
        <p:spPr>
          <a:xfrm>
            <a:off x="471028" y="2582735"/>
            <a:ext cx="12208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doPOST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7"/>
          <p:cNvSpPr/>
          <p:nvPr/>
        </p:nvSpPr>
        <p:spPr>
          <a:xfrm>
            <a:off x="1789500" y="2024967"/>
            <a:ext cx="408800" cy="3867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7"/>
          <p:cNvSpPr/>
          <p:nvPr/>
        </p:nvSpPr>
        <p:spPr>
          <a:xfrm>
            <a:off x="3841532" y="1428067"/>
            <a:ext cx="1312000" cy="381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UserDAO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37"/>
          <p:cNvCxnSpPr/>
          <p:nvPr/>
        </p:nvCxnSpPr>
        <p:spPr>
          <a:xfrm flipH="1">
            <a:off x="4530756" y="1809067"/>
            <a:ext cx="40400" cy="43436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280" name="Google Shape;280;p37"/>
          <p:cNvCxnSpPr/>
          <p:nvPr/>
        </p:nvCxnSpPr>
        <p:spPr>
          <a:xfrm>
            <a:off x="2198227" y="2494867"/>
            <a:ext cx="21276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81" name="Google Shape;281;p37"/>
          <p:cNvSpPr txBox="1"/>
          <p:nvPr/>
        </p:nvSpPr>
        <p:spPr>
          <a:xfrm>
            <a:off x="2175002" y="1984443"/>
            <a:ext cx="2127600" cy="383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UserDAO(username, password)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7"/>
          <p:cNvSpPr/>
          <p:nvPr/>
        </p:nvSpPr>
        <p:spPr>
          <a:xfrm>
            <a:off x="4366052" y="2042033"/>
            <a:ext cx="406400" cy="1257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37"/>
          <p:cNvCxnSpPr/>
          <p:nvPr/>
        </p:nvCxnSpPr>
        <p:spPr>
          <a:xfrm rot="10800000">
            <a:off x="2221633" y="3192033"/>
            <a:ext cx="21336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84" name="Google Shape;284;p37"/>
          <p:cNvSpPr txBox="1"/>
          <p:nvPr/>
        </p:nvSpPr>
        <p:spPr>
          <a:xfrm>
            <a:off x="2524384" y="2790249"/>
            <a:ext cx="1515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|| null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7"/>
          <p:cNvSpPr/>
          <p:nvPr/>
        </p:nvSpPr>
        <p:spPr>
          <a:xfrm>
            <a:off x="6961933" y="1428067"/>
            <a:ext cx="1001600" cy="381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37"/>
          <p:cNvCxnSpPr>
            <a:stCxn id="285" idx="2"/>
          </p:cNvCxnSpPr>
          <p:nvPr/>
        </p:nvCxnSpPr>
        <p:spPr>
          <a:xfrm flipH="1">
            <a:off x="7422333" y="1809267"/>
            <a:ext cx="40400" cy="43436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287" name="Google Shape;287;p37"/>
          <p:cNvSpPr/>
          <p:nvPr/>
        </p:nvSpPr>
        <p:spPr>
          <a:xfrm>
            <a:off x="7245667" y="4253889"/>
            <a:ext cx="406400" cy="381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" name="Google Shape;288;p37"/>
          <p:cNvCxnSpPr/>
          <p:nvPr/>
        </p:nvCxnSpPr>
        <p:spPr>
          <a:xfrm rot="10800000" flipH="1">
            <a:off x="2198533" y="4442300"/>
            <a:ext cx="5058400" cy="40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89" name="Google Shape;289;p37"/>
          <p:cNvSpPr txBox="1"/>
          <p:nvPr/>
        </p:nvSpPr>
        <p:spPr>
          <a:xfrm>
            <a:off x="2321956" y="4091428"/>
            <a:ext cx="4151416" cy="36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lvl="0"/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[user != </a:t>
            </a:r>
            <a:r>
              <a:rPr lang="es-419" sz="1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null] setAttribute  ("user", username)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7"/>
          <p:cNvSpPr/>
          <p:nvPr/>
        </p:nvSpPr>
        <p:spPr>
          <a:xfrm>
            <a:off x="5457333" y="1427967"/>
            <a:ext cx="1408000" cy="381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index.html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p37"/>
          <p:cNvCxnSpPr>
            <a:stCxn id="290" idx="2"/>
          </p:cNvCxnSpPr>
          <p:nvPr/>
        </p:nvCxnSpPr>
        <p:spPr>
          <a:xfrm flipH="1">
            <a:off x="6120933" y="1809167"/>
            <a:ext cx="40400" cy="43436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292" name="Google Shape;292;p37"/>
          <p:cNvSpPr/>
          <p:nvPr/>
        </p:nvSpPr>
        <p:spPr>
          <a:xfrm>
            <a:off x="5952151" y="3331661"/>
            <a:ext cx="406400" cy="8868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p37"/>
          <p:cNvCxnSpPr/>
          <p:nvPr/>
        </p:nvCxnSpPr>
        <p:spPr>
          <a:xfrm>
            <a:off x="2227020" y="3868951"/>
            <a:ext cx="3700000" cy="36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94" name="Google Shape;294;p37"/>
          <p:cNvSpPr txBox="1"/>
          <p:nvPr/>
        </p:nvSpPr>
        <p:spPr>
          <a:xfrm>
            <a:off x="128100" y="3081367"/>
            <a:ext cx="1612800" cy="28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/CheckLogin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username</a:t>
            </a:r>
            <a:endParaRPr sz="1400"/>
          </a:p>
          <a:p>
            <a: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password</a:t>
            </a:r>
            <a:endParaRPr sz="1400"/>
          </a:p>
          <a:p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From: index.html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37"/>
          <p:cNvCxnSpPr/>
          <p:nvPr/>
        </p:nvCxnSpPr>
        <p:spPr>
          <a:xfrm flipH="1">
            <a:off x="8791467" y="1853467"/>
            <a:ext cx="6400" cy="43984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296" name="Google Shape;296;p37"/>
          <p:cNvSpPr/>
          <p:nvPr/>
        </p:nvSpPr>
        <p:spPr>
          <a:xfrm>
            <a:off x="8591459" y="4562485"/>
            <a:ext cx="406400" cy="1008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7"/>
          <p:cNvSpPr txBox="1"/>
          <p:nvPr/>
        </p:nvSpPr>
        <p:spPr>
          <a:xfrm>
            <a:off x="2276255" y="4670129"/>
            <a:ext cx="38172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/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[user != null ] redirect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7"/>
          <p:cNvSpPr txBox="1"/>
          <p:nvPr/>
        </p:nvSpPr>
        <p:spPr>
          <a:xfrm>
            <a:off x="2434931" y="3468675"/>
            <a:ext cx="28232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/>
            <a: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[user == null ] redirect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37"/>
          <p:cNvCxnSpPr>
            <a:endCxn id="296" idx="1"/>
          </p:cNvCxnSpPr>
          <p:nvPr/>
        </p:nvCxnSpPr>
        <p:spPr>
          <a:xfrm rot="10800000" flipH="1">
            <a:off x="2227059" y="5066485"/>
            <a:ext cx="6364400" cy="80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300" name="Google Shape;300;p37"/>
          <p:cNvCxnSpPr/>
          <p:nvPr/>
        </p:nvCxnSpPr>
        <p:spPr>
          <a:xfrm rot="10800000">
            <a:off x="2214033" y="2846367"/>
            <a:ext cx="21412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01" name="Google Shape;301;p37"/>
          <p:cNvSpPr txBox="1"/>
          <p:nvPr/>
        </p:nvSpPr>
        <p:spPr>
          <a:xfrm>
            <a:off x="2341633" y="2516833"/>
            <a:ext cx="21416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checkCredentials()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7"/>
          <p:cNvSpPr/>
          <p:nvPr/>
        </p:nvSpPr>
        <p:spPr>
          <a:xfrm>
            <a:off x="8177733" y="1433968"/>
            <a:ext cx="1515600" cy="369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GoToHome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p37"/>
          <p:cNvCxnSpPr/>
          <p:nvPr/>
        </p:nvCxnSpPr>
        <p:spPr>
          <a:xfrm>
            <a:off x="8997867" y="5066500"/>
            <a:ext cx="14916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04" name="Google Shape;304;p37"/>
          <p:cNvSpPr txBox="1"/>
          <p:nvPr/>
        </p:nvSpPr>
        <p:spPr>
          <a:xfrm>
            <a:off x="9123180" y="4670133"/>
            <a:ext cx="302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/>
            <a:r>
              <a:rPr lang="es-419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 slide “go to home”</a:t>
            </a:r>
            <a:endParaRPr sz="1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7"/>
          <p:cNvSpPr txBox="1">
            <a:spLocks noGrp="1"/>
          </p:cNvSpPr>
          <p:nvPr>
            <p:ph type="title"/>
          </p:nvPr>
        </p:nvSpPr>
        <p:spPr>
          <a:xfrm>
            <a:off x="609600" y="274633"/>
            <a:ext cx="10972800" cy="100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s-419" dirty="0"/>
              <a:t>Event: registration</a:t>
            </a:r>
            <a:endParaRPr dirty="0"/>
          </a:p>
        </p:txBody>
      </p:sp>
      <p:sp>
        <p:nvSpPr>
          <p:cNvPr id="273" name="Google Shape;273;p37"/>
          <p:cNvSpPr/>
          <p:nvPr/>
        </p:nvSpPr>
        <p:spPr>
          <a:xfrm>
            <a:off x="1156827" y="1428067"/>
            <a:ext cx="1752800" cy="381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CheckRegistration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p37"/>
          <p:cNvCxnSpPr>
            <a:cxnSpLocks/>
            <a:stCxn id="273" idx="2"/>
          </p:cNvCxnSpPr>
          <p:nvPr/>
        </p:nvCxnSpPr>
        <p:spPr>
          <a:xfrm flipH="1">
            <a:off x="1976093" y="1809267"/>
            <a:ext cx="57134" cy="5048733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275" name="Google Shape;275;p37"/>
          <p:cNvCxnSpPr/>
          <p:nvPr/>
        </p:nvCxnSpPr>
        <p:spPr>
          <a:xfrm>
            <a:off x="572628" y="2952067"/>
            <a:ext cx="11684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76" name="Google Shape;276;p37"/>
          <p:cNvSpPr txBox="1"/>
          <p:nvPr/>
        </p:nvSpPr>
        <p:spPr>
          <a:xfrm>
            <a:off x="471028" y="2582735"/>
            <a:ext cx="12208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doPOST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7"/>
          <p:cNvSpPr/>
          <p:nvPr/>
        </p:nvSpPr>
        <p:spPr>
          <a:xfrm>
            <a:off x="1789500" y="2024966"/>
            <a:ext cx="408800" cy="4556841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7"/>
          <p:cNvSpPr/>
          <p:nvPr/>
        </p:nvSpPr>
        <p:spPr>
          <a:xfrm>
            <a:off x="3841532" y="1428067"/>
            <a:ext cx="1312000" cy="381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UserDAO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37"/>
          <p:cNvCxnSpPr/>
          <p:nvPr/>
        </p:nvCxnSpPr>
        <p:spPr>
          <a:xfrm flipH="1">
            <a:off x="4530756" y="1809067"/>
            <a:ext cx="40400" cy="43436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280" name="Google Shape;280;p37"/>
          <p:cNvCxnSpPr/>
          <p:nvPr/>
        </p:nvCxnSpPr>
        <p:spPr>
          <a:xfrm>
            <a:off x="2198227" y="2944568"/>
            <a:ext cx="21276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81" name="Google Shape;281;p37"/>
          <p:cNvSpPr txBox="1"/>
          <p:nvPr/>
        </p:nvSpPr>
        <p:spPr>
          <a:xfrm>
            <a:off x="2175002" y="2434144"/>
            <a:ext cx="2127600" cy="383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UserDAO(username, email, password)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7"/>
          <p:cNvSpPr/>
          <p:nvPr/>
        </p:nvSpPr>
        <p:spPr>
          <a:xfrm>
            <a:off x="4366052" y="2491734"/>
            <a:ext cx="406400" cy="1257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37"/>
          <p:cNvCxnSpPr/>
          <p:nvPr/>
        </p:nvCxnSpPr>
        <p:spPr>
          <a:xfrm rot="10800000">
            <a:off x="2221633" y="3641734"/>
            <a:ext cx="21336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84" name="Google Shape;284;p37"/>
          <p:cNvSpPr txBox="1"/>
          <p:nvPr/>
        </p:nvSpPr>
        <p:spPr>
          <a:xfrm>
            <a:off x="2524384" y="3239950"/>
            <a:ext cx="1515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iduser || null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7"/>
          <p:cNvSpPr/>
          <p:nvPr/>
        </p:nvSpPr>
        <p:spPr>
          <a:xfrm>
            <a:off x="6961933" y="1428067"/>
            <a:ext cx="1001600" cy="381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37"/>
          <p:cNvCxnSpPr>
            <a:stCxn id="285" idx="2"/>
          </p:cNvCxnSpPr>
          <p:nvPr/>
        </p:nvCxnSpPr>
        <p:spPr>
          <a:xfrm flipH="1">
            <a:off x="7422333" y="1809267"/>
            <a:ext cx="40400" cy="49680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287" name="Google Shape;287;p37"/>
          <p:cNvSpPr/>
          <p:nvPr/>
        </p:nvSpPr>
        <p:spPr>
          <a:xfrm>
            <a:off x="7243509" y="5680157"/>
            <a:ext cx="406400" cy="381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" name="Google Shape;288;p37"/>
          <p:cNvCxnSpPr/>
          <p:nvPr/>
        </p:nvCxnSpPr>
        <p:spPr>
          <a:xfrm rot="10800000" flipH="1">
            <a:off x="2214816" y="5465624"/>
            <a:ext cx="37080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90" name="Google Shape;290;p37"/>
          <p:cNvSpPr/>
          <p:nvPr/>
        </p:nvSpPr>
        <p:spPr>
          <a:xfrm>
            <a:off x="5457333" y="1427967"/>
            <a:ext cx="1408000" cy="381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index.html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p37"/>
          <p:cNvCxnSpPr>
            <a:stCxn id="290" idx="2"/>
          </p:cNvCxnSpPr>
          <p:nvPr/>
        </p:nvCxnSpPr>
        <p:spPr>
          <a:xfrm flipH="1">
            <a:off x="6120933" y="1809167"/>
            <a:ext cx="40400" cy="50040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292" name="Google Shape;292;p37"/>
          <p:cNvSpPr/>
          <p:nvPr/>
        </p:nvSpPr>
        <p:spPr>
          <a:xfrm>
            <a:off x="5952151" y="3856312"/>
            <a:ext cx="406400" cy="381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p37"/>
          <p:cNvCxnSpPr/>
          <p:nvPr/>
        </p:nvCxnSpPr>
        <p:spPr>
          <a:xfrm>
            <a:off x="2227020" y="4063822"/>
            <a:ext cx="3700000" cy="36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94" name="Google Shape;294;p37"/>
          <p:cNvSpPr txBox="1"/>
          <p:nvPr/>
        </p:nvSpPr>
        <p:spPr>
          <a:xfrm>
            <a:off x="128100" y="3081367"/>
            <a:ext cx="1778284" cy="28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/CheckRegistration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username</a:t>
            </a:r>
          </a:p>
          <a:p>
            <a:r>
              <a:rPr lang="es-419" sz="14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email</a:t>
            </a:r>
            <a:endParaRPr sz="1400" dirty="0"/>
          </a:p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password</a:t>
            </a:r>
          </a:p>
          <a:p>
            <a:r>
              <a:rPr lang="es-419" sz="14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password2</a:t>
            </a:r>
            <a:endParaRPr sz="1400" dirty="0"/>
          </a:p>
          <a:p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From: index.html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37"/>
          <p:cNvCxnSpPr/>
          <p:nvPr/>
        </p:nvCxnSpPr>
        <p:spPr>
          <a:xfrm flipH="1">
            <a:off x="8791467" y="1853467"/>
            <a:ext cx="6400" cy="43984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296" name="Google Shape;296;p37"/>
          <p:cNvSpPr/>
          <p:nvPr/>
        </p:nvSpPr>
        <p:spPr>
          <a:xfrm>
            <a:off x="8591459" y="6259867"/>
            <a:ext cx="406400" cy="329941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7"/>
          <p:cNvSpPr txBox="1"/>
          <p:nvPr/>
        </p:nvSpPr>
        <p:spPr>
          <a:xfrm>
            <a:off x="2246772" y="5630721"/>
            <a:ext cx="38172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/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[iduser != null ] </a:t>
            </a:r>
            <a:r>
              <a:rPr lang="es-419" sz="1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setAttribute  ("user", username)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7"/>
          <p:cNvSpPr txBox="1"/>
          <p:nvPr/>
        </p:nvSpPr>
        <p:spPr>
          <a:xfrm>
            <a:off x="1755784" y="3741411"/>
            <a:ext cx="28232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/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[iduser != null ] redirect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37"/>
          <p:cNvCxnSpPr>
            <a:cxnSpLocks/>
          </p:cNvCxnSpPr>
          <p:nvPr/>
        </p:nvCxnSpPr>
        <p:spPr>
          <a:xfrm rot="10800000" flipH="1">
            <a:off x="2227059" y="6415589"/>
            <a:ext cx="6364400" cy="80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300" name="Google Shape;300;p37"/>
          <p:cNvCxnSpPr/>
          <p:nvPr/>
        </p:nvCxnSpPr>
        <p:spPr>
          <a:xfrm rot="10800000">
            <a:off x="2214033" y="3296068"/>
            <a:ext cx="21412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01" name="Google Shape;301;p37"/>
          <p:cNvSpPr txBox="1"/>
          <p:nvPr/>
        </p:nvSpPr>
        <p:spPr>
          <a:xfrm>
            <a:off x="2175538" y="3012357"/>
            <a:ext cx="2626324" cy="316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n-US" sz="1400" dirty="0" err="1"/>
              <a:t>GetIdByUsername</a:t>
            </a:r>
            <a:r>
              <a:rPr lang="en-US" sz="1400" dirty="0"/>
              <a:t> (username)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7"/>
          <p:cNvSpPr/>
          <p:nvPr/>
        </p:nvSpPr>
        <p:spPr>
          <a:xfrm>
            <a:off x="8177733" y="1433968"/>
            <a:ext cx="1515600" cy="369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GoToHome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p37"/>
          <p:cNvCxnSpPr/>
          <p:nvPr/>
        </p:nvCxnSpPr>
        <p:spPr>
          <a:xfrm>
            <a:off x="8997859" y="6415589"/>
            <a:ext cx="14916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04" name="Google Shape;304;p37"/>
          <p:cNvSpPr txBox="1"/>
          <p:nvPr/>
        </p:nvSpPr>
        <p:spPr>
          <a:xfrm>
            <a:off x="9166000" y="5999328"/>
            <a:ext cx="302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/>
            <a:r>
              <a:rPr lang="es-419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 slide “go to home”</a:t>
            </a:r>
            <a:endParaRPr sz="1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82;p37">
            <a:extLst>
              <a:ext uri="{FF2B5EF4-FFF2-40B4-BE49-F238E27FC236}">
                <a16:creationId xmlns:a16="http://schemas.microsoft.com/office/drawing/2014/main" id="{3AE1FCB5-D9E2-87A5-2B16-D19746B431ED}"/>
              </a:ext>
            </a:extLst>
          </p:cNvPr>
          <p:cNvSpPr/>
          <p:nvPr/>
        </p:nvSpPr>
        <p:spPr>
          <a:xfrm>
            <a:off x="4338300" y="4199683"/>
            <a:ext cx="406400" cy="8699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7"/>
          <p:cNvSpPr txBox="1"/>
          <p:nvPr/>
        </p:nvSpPr>
        <p:spPr>
          <a:xfrm>
            <a:off x="2128507" y="4105801"/>
            <a:ext cx="2371831" cy="36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[iduser == null ] </a:t>
            </a:r>
            <a:r>
              <a:rPr lang="en-US" sz="1400" dirty="0" err="1"/>
              <a:t>AddNewUser</a:t>
            </a:r>
            <a:r>
              <a:rPr lang="en-US" sz="1400" dirty="0"/>
              <a:t> (username, email, password)</a:t>
            </a:r>
          </a:p>
          <a:p>
            <a:pPr lvl="0"/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" name="Google Shape;280;p37">
            <a:extLst>
              <a:ext uri="{FF2B5EF4-FFF2-40B4-BE49-F238E27FC236}">
                <a16:creationId xmlns:a16="http://schemas.microsoft.com/office/drawing/2014/main" id="{D87055B5-93AA-DD21-F17F-69981F7F42F9}"/>
              </a:ext>
            </a:extLst>
          </p:cNvPr>
          <p:cNvCxnSpPr/>
          <p:nvPr/>
        </p:nvCxnSpPr>
        <p:spPr>
          <a:xfrm>
            <a:off x="2214033" y="4634161"/>
            <a:ext cx="21276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5" name="Google Shape;283;p37">
            <a:extLst>
              <a:ext uri="{FF2B5EF4-FFF2-40B4-BE49-F238E27FC236}">
                <a16:creationId xmlns:a16="http://schemas.microsoft.com/office/drawing/2014/main" id="{1BD68DDD-65A5-A3FF-CCE6-05E7C32D3BAE}"/>
              </a:ext>
            </a:extLst>
          </p:cNvPr>
          <p:cNvCxnSpPr/>
          <p:nvPr/>
        </p:nvCxnSpPr>
        <p:spPr>
          <a:xfrm rot="10800000">
            <a:off x="2211469" y="4979443"/>
            <a:ext cx="21336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6" name="Google Shape;284;p37">
            <a:extLst>
              <a:ext uri="{FF2B5EF4-FFF2-40B4-BE49-F238E27FC236}">
                <a16:creationId xmlns:a16="http://schemas.microsoft.com/office/drawing/2014/main" id="{7DDB90B9-E5D9-615C-5D96-DB9B24E7B126}"/>
              </a:ext>
            </a:extLst>
          </p:cNvPr>
          <p:cNvSpPr txBox="1"/>
          <p:nvPr/>
        </p:nvSpPr>
        <p:spPr>
          <a:xfrm>
            <a:off x="2544200" y="4622629"/>
            <a:ext cx="15156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iduser || null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98;p37">
            <a:extLst>
              <a:ext uri="{FF2B5EF4-FFF2-40B4-BE49-F238E27FC236}">
                <a16:creationId xmlns:a16="http://schemas.microsoft.com/office/drawing/2014/main" id="{CA558BCD-8407-3FD7-E5C0-73862B519F17}"/>
              </a:ext>
            </a:extLst>
          </p:cNvPr>
          <p:cNvSpPr txBox="1"/>
          <p:nvPr/>
        </p:nvSpPr>
        <p:spPr>
          <a:xfrm>
            <a:off x="2398308" y="5103636"/>
            <a:ext cx="28232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/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[iduser == null ] redirect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92;p37">
            <a:extLst>
              <a:ext uri="{FF2B5EF4-FFF2-40B4-BE49-F238E27FC236}">
                <a16:creationId xmlns:a16="http://schemas.microsoft.com/office/drawing/2014/main" id="{3B0AC26C-ADC1-F119-902E-A395A738C04D}"/>
              </a:ext>
            </a:extLst>
          </p:cNvPr>
          <p:cNvSpPr/>
          <p:nvPr/>
        </p:nvSpPr>
        <p:spPr>
          <a:xfrm>
            <a:off x="5952151" y="5271024"/>
            <a:ext cx="406400" cy="381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97;p37">
            <a:extLst>
              <a:ext uri="{FF2B5EF4-FFF2-40B4-BE49-F238E27FC236}">
                <a16:creationId xmlns:a16="http://schemas.microsoft.com/office/drawing/2014/main" id="{7DFC43F9-0564-5AAB-7972-EDDE6B206B0D}"/>
              </a:ext>
            </a:extLst>
          </p:cNvPr>
          <p:cNvSpPr txBox="1"/>
          <p:nvPr/>
        </p:nvSpPr>
        <p:spPr>
          <a:xfrm>
            <a:off x="2252207" y="6124533"/>
            <a:ext cx="38172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/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redirect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" name="Google Shape;288;p37">
            <a:extLst>
              <a:ext uri="{FF2B5EF4-FFF2-40B4-BE49-F238E27FC236}">
                <a16:creationId xmlns:a16="http://schemas.microsoft.com/office/drawing/2014/main" id="{68A54FC5-5D12-E7F5-7BAC-4F4EC5187223}"/>
              </a:ext>
            </a:extLst>
          </p:cNvPr>
          <p:cNvCxnSpPr>
            <a:cxnSpLocks/>
          </p:cNvCxnSpPr>
          <p:nvPr/>
        </p:nvCxnSpPr>
        <p:spPr>
          <a:xfrm flipV="1">
            <a:off x="2214816" y="5999328"/>
            <a:ext cx="5010299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AAFA65D-CE29-5DDD-FC78-C994BBF92A20}"/>
              </a:ext>
            </a:extLst>
          </p:cNvPr>
          <p:cNvSpPr txBox="1"/>
          <p:nvPr/>
        </p:nvSpPr>
        <p:spPr>
          <a:xfrm>
            <a:off x="8997859" y="1984028"/>
            <a:ext cx="34229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highlight>
                  <a:srgbClr val="FFFF00"/>
                </a:highlight>
              </a:rPr>
              <a:t>Elenco controlli:</a:t>
            </a:r>
          </a:p>
          <a:p>
            <a:pPr marL="342900" indent="-342900">
              <a:buAutoNum type="arabicParenR"/>
            </a:pPr>
            <a:r>
              <a:rPr lang="it-IT" dirty="0">
                <a:highlight>
                  <a:srgbClr val="FFFF00"/>
                </a:highlight>
              </a:rPr>
              <a:t>Campi non vuoti</a:t>
            </a:r>
          </a:p>
          <a:p>
            <a:pPr marL="342900" indent="-342900">
              <a:buAutoNum type="arabicParenR"/>
            </a:pPr>
            <a:r>
              <a:rPr lang="it-IT" dirty="0">
                <a:highlight>
                  <a:srgbClr val="FFFF00"/>
                </a:highlight>
              </a:rPr>
              <a:t>psw1=psw2 </a:t>
            </a:r>
          </a:p>
          <a:p>
            <a:pPr marL="342900" indent="-342900">
              <a:buAutoNum type="arabicParenR"/>
            </a:pPr>
            <a:r>
              <a:rPr lang="it-IT" dirty="0">
                <a:highlight>
                  <a:srgbClr val="FFFF00"/>
                </a:highlight>
              </a:rPr>
              <a:t>Validità sintattica email</a:t>
            </a:r>
          </a:p>
          <a:p>
            <a:endParaRPr lang="it-IT" dirty="0">
              <a:highlight>
                <a:srgbClr val="FFFF00"/>
              </a:highlight>
            </a:endParaRPr>
          </a:p>
          <a:p>
            <a:pPr marL="342900" indent="-342900">
              <a:buAutoNum type="arabicParenR"/>
            </a:pPr>
            <a:endParaRPr lang="it-IT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3806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s-419"/>
              <a:t>Event: go to home</a:t>
            </a:r>
            <a:endParaRPr/>
          </a:p>
        </p:txBody>
      </p:sp>
      <p:sp>
        <p:nvSpPr>
          <p:cNvPr id="310" name="Google Shape;310;p38"/>
          <p:cNvSpPr/>
          <p:nvPr/>
        </p:nvSpPr>
        <p:spPr>
          <a:xfrm>
            <a:off x="1693233" y="1447800"/>
            <a:ext cx="1834400" cy="381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GoToHome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" name="Google Shape;311;p38"/>
          <p:cNvCxnSpPr>
            <a:stCxn id="310" idx="2"/>
          </p:cNvCxnSpPr>
          <p:nvPr/>
        </p:nvCxnSpPr>
        <p:spPr>
          <a:xfrm>
            <a:off x="2610433" y="1829000"/>
            <a:ext cx="0" cy="43436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  <p:cxnSp>
        <p:nvCxnSpPr>
          <p:cNvPr id="312" name="Google Shape;312;p38"/>
          <p:cNvCxnSpPr/>
          <p:nvPr/>
        </p:nvCxnSpPr>
        <p:spPr>
          <a:xfrm>
            <a:off x="1109035" y="2971800"/>
            <a:ext cx="11684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13" name="Google Shape;313;p38"/>
          <p:cNvSpPr txBox="1"/>
          <p:nvPr/>
        </p:nvSpPr>
        <p:spPr>
          <a:xfrm>
            <a:off x="1007435" y="2602468"/>
            <a:ext cx="12208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redirect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8"/>
          <p:cNvSpPr/>
          <p:nvPr/>
        </p:nvSpPr>
        <p:spPr>
          <a:xfrm>
            <a:off x="2325900" y="2044699"/>
            <a:ext cx="408800" cy="4303243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8"/>
          <p:cNvSpPr/>
          <p:nvPr/>
        </p:nvSpPr>
        <p:spPr>
          <a:xfrm>
            <a:off x="5970033" y="1410233"/>
            <a:ext cx="1490800" cy="381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EventDAO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" name="Google Shape;316;p38"/>
          <p:cNvCxnSpPr>
            <a:stCxn id="315" idx="2"/>
          </p:cNvCxnSpPr>
          <p:nvPr/>
        </p:nvCxnSpPr>
        <p:spPr>
          <a:xfrm flipH="1">
            <a:off x="6675033" y="1791433"/>
            <a:ext cx="40400" cy="43436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  <p:cxnSp>
        <p:nvCxnSpPr>
          <p:cNvPr id="317" name="Google Shape;317;p38"/>
          <p:cNvCxnSpPr/>
          <p:nvPr/>
        </p:nvCxnSpPr>
        <p:spPr>
          <a:xfrm rot="10800000">
            <a:off x="2759133" y="3231933"/>
            <a:ext cx="37540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18" name="Google Shape;318;p38"/>
          <p:cNvSpPr txBox="1"/>
          <p:nvPr/>
        </p:nvSpPr>
        <p:spPr>
          <a:xfrm>
            <a:off x="3404500" y="2898100"/>
            <a:ext cx="1220800" cy="3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ownEvent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8"/>
          <p:cNvSpPr/>
          <p:nvPr/>
        </p:nvSpPr>
        <p:spPr>
          <a:xfrm>
            <a:off x="6512249" y="2286743"/>
            <a:ext cx="406400" cy="2090665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38"/>
          <p:cNvCxnSpPr/>
          <p:nvPr/>
        </p:nvCxnSpPr>
        <p:spPr>
          <a:xfrm rot="10800000" flipH="1">
            <a:off x="2749100" y="2502367"/>
            <a:ext cx="3763200" cy="4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21" name="Google Shape;321;p38"/>
          <p:cNvSpPr txBox="1"/>
          <p:nvPr/>
        </p:nvSpPr>
        <p:spPr>
          <a:xfrm>
            <a:off x="2832633" y="2132867"/>
            <a:ext cx="35472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EventDAO()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8"/>
          <p:cNvSpPr/>
          <p:nvPr/>
        </p:nvSpPr>
        <p:spPr>
          <a:xfrm>
            <a:off x="7710137" y="1410240"/>
            <a:ext cx="1440000" cy="381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ctx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" name="Google Shape;323;p38"/>
          <p:cNvCxnSpPr>
            <a:stCxn id="322" idx="2"/>
          </p:cNvCxnSpPr>
          <p:nvPr/>
        </p:nvCxnSpPr>
        <p:spPr>
          <a:xfrm>
            <a:off x="8430137" y="1791440"/>
            <a:ext cx="19600" cy="43436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  <p:cxnSp>
        <p:nvCxnSpPr>
          <p:cNvPr id="324" name="Google Shape;324;p38"/>
          <p:cNvCxnSpPr>
            <a:endCxn id="325" idx="1"/>
          </p:cNvCxnSpPr>
          <p:nvPr/>
        </p:nvCxnSpPr>
        <p:spPr>
          <a:xfrm>
            <a:off x="2709691" y="5895747"/>
            <a:ext cx="74916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26" name="Google Shape;326;p38"/>
          <p:cNvSpPr/>
          <p:nvPr/>
        </p:nvSpPr>
        <p:spPr>
          <a:xfrm>
            <a:off x="9699467" y="1410235"/>
            <a:ext cx="1440000" cy="634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Template</a:t>
            </a: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7" name="Google Shape;327;p38"/>
          <p:cNvCxnSpPr>
            <a:stCxn id="326" idx="2"/>
          </p:cNvCxnSpPr>
          <p:nvPr/>
        </p:nvCxnSpPr>
        <p:spPr>
          <a:xfrm>
            <a:off x="10419467" y="2044635"/>
            <a:ext cx="19600" cy="43436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  <p:sp>
        <p:nvSpPr>
          <p:cNvPr id="325" name="Google Shape;325;p38"/>
          <p:cNvSpPr/>
          <p:nvPr/>
        </p:nvSpPr>
        <p:spPr>
          <a:xfrm>
            <a:off x="10201291" y="5442747"/>
            <a:ext cx="406400" cy="906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p38"/>
          <p:cNvCxnSpPr/>
          <p:nvPr/>
        </p:nvCxnSpPr>
        <p:spPr>
          <a:xfrm>
            <a:off x="2744143" y="5004262"/>
            <a:ext cx="5503531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29" name="Google Shape;329;p38"/>
          <p:cNvSpPr/>
          <p:nvPr/>
        </p:nvSpPr>
        <p:spPr>
          <a:xfrm>
            <a:off x="8247674" y="4536747"/>
            <a:ext cx="406400" cy="906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8"/>
          <p:cNvSpPr txBox="1"/>
          <p:nvPr/>
        </p:nvSpPr>
        <p:spPr>
          <a:xfrm>
            <a:off x="2885943" y="4627035"/>
            <a:ext cx="3084090" cy="31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/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setVariable(ownEvent, notOwnEvent)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8"/>
          <p:cNvSpPr txBox="1"/>
          <p:nvPr/>
        </p:nvSpPr>
        <p:spPr>
          <a:xfrm>
            <a:off x="2885943" y="5522144"/>
            <a:ext cx="3442800" cy="316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/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process(ctx, "Home.html", ..)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2" name="Google Shape;332;p38"/>
          <p:cNvCxnSpPr/>
          <p:nvPr/>
        </p:nvCxnSpPr>
        <p:spPr>
          <a:xfrm rot="10800000" flipH="1">
            <a:off x="2740733" y="2934167"/>
            <a:ext cx="3763200" cy="4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33" name="Google Shape;333;p38"/>
          <p:cNvSpPr txBox="1"/>
          <p:nvPr/>
        </p:nvSpPr>
        <p:spPr>
          <a:xfrm>
            <a:off x="2824267" y="2564667"/>
            <a:ext cx="35472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findOwnEventByUser(session.user.iduser)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" name="Google Shape;317;p38">
            <a:extLst>
              <a:ext uri="{FF2B5EF4-FFF2-40B4-BE49-F238E27FC236}">
                <a16:creationId xmlns:a16="http://schemas.microsoft.com/office/drawing/2014/main" id="{3A6D9839-8D26-C91B-B19F-C5B0564BEC98}"/>
              </a:ext>
            </a:extLst>
          </p:cNvPr>
          <p:cNvCxnSpPr/>
          <p:nvPr/>
        </p:nvCxnSpPr>
        <p:spPr>
          <a:xfrm rot="10800000">
            <a:off x="2762874" y="4162543"/>
            <a:ext cx="37540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" name="Google Shape;318;p38">
            <a:extLst>
              <a:ext uri="{FF2B5EF4-FFF2-40B4-BE49-F238E27FC236}">
                <a16:creationId xmlns:a16="http://schemas.microsoft.com/office/drawing/2014/main" id="{C1D638E5-3E42-BB66-C93D-4FF7123A373B}"/>
              </a:ext>
            </a:extLst>
          </p:cNvPr>
          <p:cNvSpPr txBox="1"/>
          <p:nvPr/>
        </p:nvSpPr>
        <p:spPr>
          <a:xfrm>
            <a:off x="3408241" y="3828710"/>
            <a:ext cx="1389304" cy="275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notOwnEvent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" name="Google Shape;332;p38">
            <a:extLst>
              <a:ext uri="{FF2B5EF4-FFF2-40B4-BE49-F238E27FC236}">
                <a16:creationId xmlns:a16="http://schemas.microsoft.com/office/drawing/2014/main" id="{57AFF265-846B-77E4-078C-473F2C62C60F}"/>
              </a:ext>
            </a:extLst>
          </p:cNvPr>
          <p:cNvCxnSpPr/>
          <p:nvPr/>
        </p:nvCxnSpPr>
        <p:spPr>
          <a:xfrm rot="10800000" flipH="1">
            <a:off x="2744474" y="3864777"/>
            <a:ext cx="3763200" cy="4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5" name="Google Shape;333;p38">
            <a:extLst>
              <a:ext uri="{FF2B5EF4-FFF2-40B4-BE49-F238E27FC236}">
                <a16:creationId xmlns:a16="http://schemas.microsoft.com/office/drawing/2014/main" id="{EC508D46-5DC0-3873-B40C-A8A88F958D93}"/>
              </a:ext>
            </a:extLst>
          </p:cNvPr>
          <p:cNvSpPr txBox="1"/>
          <p:nvPr/>
        </p:nvSpPr>
        <p:spPr>
          <a:xfrm>
            <a:off x="2828008" y="3495276"/>
            <a:ext cx="3897842" cy="384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findNotOwnEventByUser (session.user.iduser)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7F3F31D-753E-ACD3-4E53-F783FFA5A35D}"/>
              </a:ext>
            </a:extLst>
          </p:cNvPr>
          <p:cNvSpPr txBox="1"/>
          <p:nvPr/>
        </p:nvSpPr>
        <p:spPr>
          <a:xfrm>
            <a:off x="329784" y="4377408"/>
            <a:ext cx="16795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Gestione caso non ci sono eventi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4343DE7-7B48-A721-63AD-C4E05BD3FF2F}"/>
              </a:ext>
            </a:extLst>
          </p:cNvPr>
          <p:cNvSpPr/>
          <p:nvPr/>
        </p:nvSpPr>
        <p:spPr>
          <a:xfrm>
            <a:off x="190165" y="6396335"/>
            <a:ext cx="620317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eventi non scaduti implementato in </a:t>
            </a:r>
            <a:r>
              <a:rPr lang="it-IT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mysql</a:t>
            </a:r>
            <a:r>
              <a:rPr lang="it-I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query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0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s-419" dirty="0"/>
              <a:t>Event: see event details</a:t>
            </a:r>
            <a:endParaRPr dirty="0"/>
          </a:p>
        </p:txBody>
      </p:sp>
      <p:sp>
        <p:nvSpPr>
          <p:cNvPr id="364" name="Google Shape;364;p40"/>
          <p:cNvSpPr/>
          <p:nvPr/>
        </p:nvSpPr>
        <p:spPr>
          <a:xfrm>
            <a:off x="1504700" y="1447633"/>
            <a:ext cx="2051200" cy="381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GetEvent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" name="Google Shape;365;p40"/>
          <p:cNvCxnSpPr>
            <a:stCxn id="364" idx="2"/>
          </p:cNvCxnSpPr>
          <p:nvPr/>
        </p:nvCxnSpPr>
        <p:spPr>
          <a:xfrm flipH="1">
            <a:off x="2522300" y="1828833"/>
            <a:ext cx="8000" cy="4782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  <p:cxnSp>
        <p:nvCxnSpPr>
          <p:cNvPr id="366" name="Google Shape;366;p40"/>
          <p:cNvCxnSpPr/>
          <p:nvPr/>
        </p:nvCxnSpPr>
        <p:spPr>
          <a:xfrm>
            <a:off x="1109035" y="2971800"/>
            <a:ext cx="11684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67" name="Google Shape;367;p40"/>
          <p:cNvSpPr txBox="1"/>
          <p:nvPr/>
        </p:nvSpPr>
        <p:spPr>
          <a:xfrm>
            <a:off x="1007435" y="2602468"/>
            <a:ext cx="12208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doGet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40"/>
          <p:cNvSpPr/>
          <p:nvPr/>
        </p:nvSpPr>
        <p:spPr>
          <a:xfrm>
            <a:off x="2325900" y="2044700"/>
            <a:ext cx="408800" cy="43008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40"/>
          <p:cNvSpPr/>
          <p:nvPr/>
        </p:nvSpPr>
        <p:spPr>
          <a:xfrm>
            <a:off x="4764633" y="1447633"/>
            <a:ext cx="1486800" cy="381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EventDAO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0" name="Google Shape;370;p40"/>
          <p:cNvCxnSpPr>
            <a:stCxn id="369" idx="2"/>
          </p:cNvCxnSpPr>
          <p:nvPr/>
        </p:nvCxnSpPr>
        <p:spPr>
          <a:xfrm flipH="1">
            <a:off x="5448833" y="1828833"/>
            <a:ext cx="59200" cy="46056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  <p:cxnSp>
        <p:nvCxnSpPr>
          <p:cNvPr id="371" name="Google Shape;371;p40"/>
          <p:cNvCxnSpPr/>
          <p:nvPr/>
        </p:nvCxnSpPr>
        <p:spPr>
          <a:xfrm>
            <a:off x="2753751" y="3113843"/>
            <a:ext cx="2537600" cy="196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72" name="Google Shape;372;p40"/>
          <p:cNvSpPr txBox="1"/>
          <p:nvPr/>
        </p:nvSpPr>
        <p:spPr>
          <a:xfrm>
            <a:off x="2754749" y="2744500"/>
            <a:ext cx="3442800" cy="3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findEventById(X)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40"/>
          <p:cNvSpPr/>
          <p:nvPr/>
        </p:nvSpPr>
        <p:spPr>
          <a:xfrm>
            <a:off x="5304833" y="2274196"/>
            <a:ext cx="406400" cy="13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40"/>
          <p:cNvSpPr txBox="1"/>
          <p:nvPr/>
        </p:nvSpPr>
        <p:spPr>
          <a:xfrm>
            <a:off x="22667" y="3052501"/>
            <a:ext cx="2352000" cy="1938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/GetEvent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s-419" sz="14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?idevent=X</a:t>
            </a:r>
            <a:endParaRPr sz="14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s-419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s-419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Home.html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5" name="Google Shape;375;p40"/>
          <p:cNvCxnSpPr/>
          <p:nvPr/>
        </p:nvCxnSpPr>
        <p:spPr>
          <a:xfrm>
            <a:off x="2739267" y="2502200"/>
            <a:ext cx="2542000" cy="104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76" name="Google Shape;376;p40"/>
          <p:cNvSpPr txBox="1"/>
          <p:nvPr/>
        </p:nvSpPr>
        <p:spPr>
          <a:xfrm>
            <a:off x="2832633" y="2132867"/>
            <a:ext cx="21476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EventDAO()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7" name="Google Shape;377;p40"/>
          <p:cNvCxnSpPr/>
          <p:nvPr/>
        </p:nvCxnSpPr>
        <p:spPr>
          <a:xfrm rot="10800000">
            <a:off x="2731300" y="3564900"/>
            <a:ext cx="25600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78" name="Google Shape;378;p40"/>
          <p:cNvSpPr txBox="1"/>
          <p:nvPr/>
        </p:nvSpPr>
        <p:spPr>
          <a:xfrm>
            <a:off x="3102067" y="3201417"/>
            <a:ext cx="1220800" cy="3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0"/>
          <p:cNvSpPr/>
          <p:nvPr/>
        </p:nvSpPr>
        <p:spPr>
          <a:xfrm>
            <a:off x="6485267" y="1447633"/>
            <a:ext cx="1624000" cy="381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BookingDAO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0" name="Google Shape;380;p40"/>
          <p:cNvCxnSpPr/>
          <p:nvPr/>
        </p:nvCxnSpPr>
        <p:spPr>
          <a:xfrm flipH="1">
            <a:off x="7212667" y="1828833"/>
            <a:ext cx="35600" cy="45660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  <p:sp>
        <p:nvSpPr>
          <p:cNvPr id="381" name="Google Shape;381;p40"/>
          <p:cNvSpPr/>
          <p:nvPr/>
        </p:nvSpPr>
        <p:spPr>
          <a:xfrm>
            <a:off x="7024867" y="3741663"/>
            <a:ext cx="406400" cy="1395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2" name="Google Shape;382;p40"/>
          <p:cNvCxnSpPr/>
          <p:nvPr/>
        </p:nvCxnSpPr>
        <p:spPr>
          <a:xfrm rot="10800000" flipH="1">
            <a:off x="2730167" y="4542492"/>
            <a:ext cx="4265600" cy="204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83" name="Google Shape;383;p40"/>
          <p:cNvSpPr txBox="1"/>
          <p:nvPr/>
        </p:nvSpPr>
        <p:spPr>
          <a:xfrm>
            <a:off x="2754734" y="4182217"/>
            <a:ext cx="3730533" cy="36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lvl="0"/>
            <a:r>
              <a:rPr lang="en-US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findBookingsByEvent</a:t>
            </a: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4" name="Google Shape;384;p40"/>
          <p:cNvCxnSpPr/>
          <p:nvPr/>
        </p:nvCxnSpPr>
        <p:spPr>
          <a:xfrm rot="10800000" flipH="1">
            <a:off x="2727951" y="4108767"/>
            <a:ext cx="4278000" cy="212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85" name="Google Shape;385;p40"/>
          <p:cNvSpPr txBox="1"/>
          <p:nvPr/>
        </p:nvSpPr>
        <p:spPr>
          <a:xfrm>
            <a:off x="2847333" y="3741667"/>
            <a:ext cx="22900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BookingDAO()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6" name="Google Shape;386;p40"/>
          <p:cNvCxnSpPr/>
          <p:nvPr/>
        </p:nvCxnSpPr>
        <p:spPr>
          <a:xfrm rot="10800000">
            <a:off x="2719133" y="4909200"/>
            <a:ext cx="42768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87" name="Google Shape;387;p40"/>
          <p:cNvSpPr txBox="1"/>
          <p:nvPr/>
        </p:nvSpPr>
        <p:spPr>
          <a:xfrm>
            <a:off x="3690360" y="4545717"/>
            <a:ext cx="1220800" cy="3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bookings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0"/>
          <p:cNvSpPr/>
          <p:nvPr/>
        </p:nvSpPr>
        <p:spPr>
          <a:xfrm>
            <a:off x="8271771" y="1447640"/>
            <a:ext cx="1440000" cy="381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ctx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9" name="Google Shape;389;p40"/>
          <p:cNvCxnSpPr>
            <a:stCxn id="388" idx="2"/>
          </p:cNvCxnSpPr>
          <p:nvPr/>
        </p:nvCxnSpPr>
        <p:spPr>
          <a:xfrm>
            <a:off x="8991771" y="1828840"/>
            <a:ext cx="34000" cy="45560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  <p:cxnSp>
        <p:nvCxnSpPr>
          <p:cNvPr id="390" name="Google Shape;390;p40"/>
          <p:cNvCxnSpPr/>
          <p:nvPr/>
        </p:nvCxnSpPr>
        <p:spPr>
          <a:xfrm>
            <a:off x="2753681" y="6102869"/>
            <a:ext cx="7809200" cy="248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91" name="Google Shape;391;p40"/>
          <p:cNvSpPr/>
          <p:nvPr/>
        </p:nvSpPr>
        <p:spPr>
          <a:xfrm>
            <a:off x="10064033" y="1447635"/>
            <a:ext cx="1440000" cy="634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Template</a:t>
            </a: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2" name="Google Shape;392;p40"/>
          <p:cNvCxnSpPr>
            <a:stCxn id="391" idx="2"/>
          </p:cNvCxnSpPr>
          <p:nvPr/>
        </p:nvCxnSpPr>
        <p:spPr>
          <a:xfrm>
            <a:off x="10784033" y="2082035"/>
            <a:ext cx="19600" cy="43436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  <p:sp>
        <p:nvSpPr>
          <p:cNvPr id="393" name="Google Shape;393;p40"/>
          <p:cNvSpPr/>
          <p:nvPr/>
        </p:nvSpPr>
        <p:spPr>
          <a:xfrm>
            <a:off x="10581848" y="5662269"/>
            <a:ext cx="406400" cy="906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4" name="Google Shape;394;p40"/>
          <p:cNvCxnSpPr>
            <a:endCxn id="395" idx="1"/>
          </p:cNvCxnSpPr>
          <p:nvPr/>
        </p:nvCxnSpPr>
        <p:spPr>
          <a:xfrm rot="10800000" flipH="1">
            <a:off x="2759164" y="5444229"/>
            <a:ext cx="6039200" cy="144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95" name="Google Shape;395;p40"/>
          <p:cNvSpPr/>
          <p:nvPr/>
        </p:nvSpPr>
        <p:spPr>
          <a:xfrm>
            <a:off x="8798364" y="4991229"/>
            <a:ext cx="406400" cy="906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40"/>
          <p:cNvSpPr txBox="1"/>
          <p:nvPr/>
        </p:nvSpPr>
        <p:spPr>
          <a:xfrm>
            <a:off x="3088662" y="4944709"/>
            <a:ext cx="24888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setVariable(event) setVariable(bookings)</a:t>
            </a:r>
          </a:p>
          <a:p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40"/>
          <p:cNvSpPr txBox="1"/>
          <p:nvPr/>
        </p:nvSpPr>
        <p:spPr>
          <a:xfrm>
            <a:off x="2879835" y="5792561"/>
            <a:ext cx="4606800" cy="4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/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process(ctx, “Event.html", ..)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5DA5C40B-3476-F531-39BD-F6A3313D6F9D}"/>
              </a:ext>
            </a:extLst>
          </p:cNvPr>
          <p:cNvSpPr/>
          <p:nvPr/>
        </p:nvSpPr>
        <p:spPr>
          <a:xfrm>
            <a:off x="0" y="6356224"/>
            <a:ext cx="4114185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Bookable</a:t>
            </a:r>
            <a:r>
              <a:rPr lang="it-I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  <a:r>
              <a:rPr lang="it-IT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current</a:t>
            </a:r>
            <a:r>
              <a:rPr lang="it-I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it-IT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attendee</a:t>
            </a:r>
            <a:endParaRPr lang="it-IT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1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s-419" dirty="0"/>
              <a:t>Event: event booking</a:t>
            </a:r>
            <a:endParaRPr dirty="0"/>
          </a:p>
        </p:txBody>
      </p:sp>
      <p:sp>
        <p:nvSpPr>
          <p:cNvPr id="403" name="Google Shape;403;p41"/>
          <p:cNvSpPr/>
          <p:nvPr/>
        </p:nvSpPr>
        <p:spPr>
          <a:xfrm>
            <a:off x="1571351" y="1446884"/>
            <a:ext cx="2624000" cy="381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CreateBooking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4" name="Google Shape;404;p41"/>
          <p:cNvCxnSpPr>
            <a:stCxn id="403" idx="2"/>
          </p:cNvCxnSpPr>
          <p:nvPr/>
        </p:nvCxnSpPr>
        <p:spPr>
          <a:xfrm flipH="1">
            <a:off x="2865751" y="1828084"/>
            <a:ext cx="17600" cy="4388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  <p:cxnSp>
        <p:nvCxnSpPr>
          <p:cNvPr id="405" name="Google Shape;405;p41"/>
          <p:cNvCxnSpPr/>
          <p:nvPr/>
        </p:nvCxnSpPr>
        <p:spPr>
          <a:xfrm>
            <a:off x="1462084" y="3000100"/>
            <a:ext cx="11684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406" name="Google Shape;406;p41"/>
          <p:cNvSpPr txBox="1"/>
          <p:nvPr/>
        </p:nvSpPr>
        <p:spPr>
          <a:xfrm>
            <a:off x="1360484" y="2630768"/>
            <a:ext cx="12208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doGet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41"/>
          <p:cNvSpPr/>
          <p:nvPr/>
        </p:nvSpPr>
        <p:spPr>
          <a:xfrm>
            <a:off x="2678951" y="2073000"/>
            <a:ext cx="408800" cy="3680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41"/>
          <p:cNvSpPr txBox="1"/>
          <p:nvPr/>
        </p:nvSpPr>
        <p:spPr>
          <a:xfrm>
            <a:off x="216967" y="3071333"/>
            <a:ext cx="2554400" cy="32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/CreateBooking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it-IT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idevent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it-IT" sz="1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idattendee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From: 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Event.html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41"/>
          <p:cNvSpPr/>
          <p:nvPr/>
        </p:nvSpPr>
        <p:spPr>
          <a:xfrm>
            <a:off x="5547549" y="1444384"/>
            <a:ext cx="1624000" cy="381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BookingDAO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0" name="Google Shape;410;p41"/>
          <p:cNvCxnSpPr/>
          <p:nvPr/>
        </p:nvCxnSpPr>
        <p:spPr>
          <a:xfrm flipH="1">
            <a:off x="6314433" y="1852133"/>
            <a:ext cx="40000" cy="45120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  <p:sp>
        <p:nvSpPr>
          <p:cNvPr id="411" name="Google Shape;411;p41"/>
          <p:cNvSpPr/>
          <p:nvPr/>
        </p:nvSpPr>
        <p:spPr>
          <a:xfrm>
            <a:off x="6156333" y="2213213"/>
            <a:ext cx="406400" cy="22916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2" name="Google Shape;412;p41"/>
          <p:cNvCxnSpPr/>
          <p:nvPr/>
        </p:nvCxnSpPr>
        <p:spPr>
          <a:xfrm rot="10800000" flipH="1">
            <a:off x="3098784" y="2994125"/>
            <a:ext cx="3038400" cy="8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413" name="Google Shape;413;p41"/>
          <p:cNvSpPr txBox="1"/>
          <p:nvPr/>
        </p:nvSpPr>
        <p:spPr>
          <a:xfrm>
            <a:off x="3123349" y="2614251"/>
            <a:ext cx="3870000" cy="3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n-US" sz="1400" dirty="0" err="1"/>
              <a:t>findBooking</a:t>
            </a:r>
            <a:r>
              <a:rPr lang="en-US" sz="1400" dirty="0"/>
              <a:t> (</a:t>
            </a:r>
            <a:r>
              <a:rPr lang="en-US" sz="1400" dirty="0" err="1"/>
              <a:t>idevent</a:t>
            </a:r>
            <a:r>
              <a:rPr lang="en-US" sz="1400" dirty="0"/>
              <a:t>, </a:t>
            </a:r>
            <a:r>
              <a:rPr lang="en-US" sz="1400" dirty="0" err="1"/>
              <a:t>idattendee</a:t>
            </a:r>
            <a:r>
              <a:rPr lang="en-US" sz="1400" dirty="0"/>
              <a:t>)</a:t>
            </a:r>
          </a:p>
          <a:p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4" name="Google Shape;414;p41"/>
          <p:cNvCxnSpPr/>
          <p:nvPr/>
        </p:nvCxnSpPr>
        <p:spPr>
          <a:xfrm rot="10800000" flipH="1">
            <a:off x="3096567" y="2540800"/>
            <a:ext cx="3060000" cy="212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415" name="Google Shape;415;p41"/>
          <p:cNvSpPr txBox="1"/>
          <p:nvPr/>
        </p:nvSpPr>
        <p:spPr>
          <a:xfrm>
            <a:off x="3215951" y="2173700"/>
            <a:ext cx="22900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BookingDAO()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6" name="Google Shape;416;p41"/>
          <p:cNvCxnSpPr/>
          <p:nvPr/>
        </p:nvCxnSpPr>
        <p:spPr>
          <a:xfrm rot="10800000" flipH="1">
            <a:off x="3084731" y="4788804"/>
            <a:ext cx="7147600" cy="344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418" name="Google Shape;418;p41"/>
          <p:cNvSpPr/>
          <p:nvPr/>
        </p:nvSpPr>
        <p:spPr>
          <a:xfrm>
            <a:off x="9645851" y="1462267"/>
            <a:ext cx="1624000" cy="634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chemeClr val="dk1"/>
              </a:buClr>
            </a:pPr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GetEvent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9" name="Google Shape;419;p41"/>
          <p:cNvCxnSpPr>
            <a:stCxn id="418" idx="2"/>
          </p:cNvCxnSpPr>
          <p:nvPr/>
        </p:nvCxnSpPr>
        <p:spPr>
          <a:xfrm>
            <a:off x="10457851" y="2096667"/>
            <a:ext cx="19600" cy="43436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  <p:sp>
        <p:nvSpPr>
          <p:cNvPr id="417" name="Google Shape;417;p41"/>
          <p:cNvSpPr/>
          <p:nvPr/>
        </p:nvSpPr>
        <p:spPr>
          <a:xfrm>
            <a:off x="10232331" y="4335671"/>
            <a:ext cx="406400" cy="9060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41"/>
          <p:cNvSpPr txBox="1"/>
          <p:nvPr/>
        </p:nvSpPr>
        <p:spPr>
          <a:xfrm>
            <a:off x="3167251" y="4386291"/>
            <a:ext cx="4051600" cy="340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/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redirect ?idevent = idevent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1" name="Google Shape;421;p41"/>
          <p:cNvCxnSpPr>
            <a:stCxn id="417" idx="3"/>
          </p:cNvCxnSpPr>
          <p:nvPr/>
        </p:nvCxnSpPr>
        <p:spPr>
          <a:xfrm>
            <a:off x="10638731" y="4788671"/>
            <a:ext cx="1130400" cy="120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422" name="Google Shape;422;p41"/>
          <p:cNvSpPr txBox="1"/>
          <p:nvPr/>
        </p:nvSpPr>
        <p:spPr>
          <a:xfrm>
            <a:off x="9835696" y="3890545"/>
            <a:ext cx="2317200" cy="399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/>
            <a:r>
              <a:rPr lang="es-419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 slide “see event details”</a:t>
            </a:r>
            <a:endParaRPr sz="1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8E8F9534-2E85-7222-5502-2682A02715D1}"/>
              </a:ext>
            </a:extLst>
          </p:cNvPr>
          <p:cNvSpPr/>
          <p:nvPr/>
        </p:nvSpPr>
        <p:spPr>
          <a:xfrm>
            <a:off x="67224" y="4539182"/>
            <a:ext cx="3069558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it-I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Controlli </a:t>
            </a:r>
            <a:r>
              <a:rPr lang="it-IT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ggiuntivi</a:t>
            </a:r>
            <a:endParaRPr lang="it-IT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it-I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1) </a:t>
            </a:r>
            <a:r>
              <a:rPr lang="it-IT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maxattendee</a:t>
            </a:r>
            <a:endParaRPr lang="it-IT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it-I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2) evento </a:t>
            </a:r>
            <a:r>
              <a:rPr lang="it-IT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nonesistente</a:t>
            </a:r>
            <a:endParaRPr lang="it-IT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it-IT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3) utente non loggato</a:t>
            </a:r>
          </a:p>
          <a:p>
            <a:r>
              <a:rPr lang="it-I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4) </a:t>
            </a:r>
            <a:r>
              <a:rPr lang="it-IT" sz="2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Bookinggia</a:t>
            </a:r>
            <a:r>
              <a:rPr lang="it-I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esistente</a:t>
            </a:r>
          </a:p>
          <a:p>
            <a:r>
              <a:rPr lang="it-IT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5) Data evento futura</a:t>
            </a:r>
            <a:endParaRPr lang="it-IT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" name="Google Shape;414;p41">
            <a:extLst>
              <a:ext uri="{FF2B5EF4-FFF2-40B4-BE49-F238E27FC236}">
                <a16:creationId xmlns:a16="http://schemas.microsoft.com/office/drawing/2014/main" id="{5665CF5E-15B0-6E83-1131-69B9AB6553A1}"/>
              </a:ext>
            </a:extLst>
          </p:cNvPr>
          <p:cNvCxnSpPr>
            <a:cxnSpLocks/>
          </p:cNvCxnSpPr>
          <p:nvPr/>
        </p:nvCxnSpPr>
        <p:spPr>
          <a:xfrm flipH="1">
            <a:off x="3076301" y="3429000"/>
            <a:ext cx="3080032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7" name="Google Shape;413;p41">
            <a:extLst>
              <a:ext uri="{FF2B5EF4-FFF2-40B4-BE49-F238E27FC236}">
                <a16:creationId xmlns:a16="http://schemas.microsoft.com/office/drawing/2014/main" id="{2682F951-3F79-DCC5-CE2A-ECADF64077C3}"/>
              </a:ext>
            </a:extLst>
          </p:cNvPr>
          <p:cNvSpPr txBox="1"/>
          <p:nvPr/>
        </p:nvSpPr>
        <p:spPr>
          <a:xfrm>
            <a:off x="3101016" y="3043514"/>
            <a:ext cx="2897033" cy="36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n-US" sz="1400" dirty="0"/>
              <a:t>Tree ||False</a:t>
            </a:r>
          </a:p>
          <a:p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89;p37">
            <a:extLst>
              <a:ext uri="{FF2B5EF4-FFF2-40B4-BE49-F238E27FC236}">
                <a16:creationId xmlns:a16="http://schemas.microsoft.com/office/drawing/2014/main" id="{1FAF5D50-7F0B-953E-A1FD-597FF640CC74}"/>
              </a:ext>
            </a:extLst>
          </p:cNvPr>
          <p:cNvSpPr txBox="1"/>
          <p:nvPr/>
        </p:nvSpPr>
        <p:spPr>
          <a:xfrm>
            <a:off x="3056203" y="3447974"/>
            <a:ext cx="3391032" cy="36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[false] </a:t>
            </a:r>
            <a:r>
              <a:rPr lang="en-US" sz="1400" dirty="0" err="1"/>
              <a:t>AddBooking</a:t>
            </a:r>
            <a:r>
              <a:rPr lang="en-US" sz="1400" dirty="0"/>
              <a:t> (</a:t>
            </a:r>
            <a:r>
              <a:rPr lang="en-US" sz="1400" dirty="0" err="1"/>
              <a:t>idevent</a:t>
            </a:r>
            <a:r>
              <a:rPr lang="en-US" sz="1400" dirty="0"/>
              <a:t>, </a:t>
            </a:r>
            <a:r>
              <a:rPr lang="en-US" sz="1400" dirty="0" err="1"/>
              <a:t>idattendee</a:t>
            </a:r>
            <a:r>
              <a:rPr lang="en-US" sz="1400" dirty="0"/>
              <a:t>)</a:t>
            </a:r>
          </a:p>
          <a:p>
            <a:pPr lvl="0"/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" name="Google Shape;414;p41">
            <a:extLst>
              <a:ext uri="{FF2B5EF4-FFF2-40B4-BE49-F238E27FC236}">
                <a16:creationId xmlns:a16="http://schemas.microsoft.com/office/drawing/2014/main" id="{E75F3E01-F03B-ED98-3641-AA2CA03562AE}"/>
              </a:ext>
            </a:extLst>
          </p:cNvPr>
          <p:cNvCxnSpPr/>
          <p:nvPr/>
        </p:nvCxnSpPr>
        <p:spPr>
          <a:xfrm rot="10800000" flipH="1">
            <a:off x="3059340" y="3770252"/>
            <a:ext cx="3060000" cy="212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13" name="Google Shape;290;p37">
            <a:extLst>
              <a:ext uri="{FF2B5EF4-FFF2-40B4-BE49-F238E27FC236}">
                <a16:creationId xmlns:a16="http://schemas.microsoft.com/office/drawing/2014/main" id="{9CAAA8FF-9B01-8500-4CAB-3F0A9BE79C98}"/>
              </a:ext>
            </a:extLst>
          </p:cNvPr>
          <p:cNvSpPr/>
          <p:nvPr/>
        </p:nvSpPr>
        <p:spPr>
          <a:xfrm>
            <a:off x="7749711" y="1474269"/>
            <a:ext cx="1408000" cy="381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event.html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" name="Google Shape;419;p41">
            <a:extLst>
              <a:ext uri="{FF2B5EF4-FFF2-40B4-BE49-F238E27FC236}">
                <a16:creationId xmlns:a16="http://schemas.microsoft.com/office/drawing/2014/main" id="{06E4D254-36B1-8F96-30CD-13B3F0B80C0B}"/>
              </a:ext>
            </a:extLst>
          </p:cNvPr>
          <p:cNvCxnSpPr/>
          <p:nvPr/>
        </p:nvCxnSpPr>
        <p:spPr>
          <a:xfrm>
            <a:off x="8437929" y="1852133"/>
            <a:ext cx="19600" cy="43436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  <p:sp>
        <p:nvSpPr>
          <p:cNvPr id="14" name="Google Shape;292;p37">
            <a:extLst>
              <a:ext uri="{FF2B5EF4-FFF2-40B4-BE49-F238E27FC236}">
                <a16:creationId xmlns:a16="http://schemas.microsoft.com/office/drawing/2014/main" id="{224D0DAB-021C-A491-2504-EEC2AAD1FA6C}"/>
              </a:ext>
            </a:extLst>
          </p:cNvPr>
          <p:cNvSpPr/>
          <p:nvPr/>
        </p:nvSpPr>
        <p:spPr>
          <a:xfrm>
            <a:off x="8244529" y="5191766"/>
            <a:ext cx="406400" cy="381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289;p37">
            <a:extLst>
              <a:ext uri="{FF2B5EF4-FFF2-40B4-BE49-F238E27FC236}">
                <a16:creationId xmlns:a16="http://schemas.microsoft.com/office/drawing/2014/main" id="{E7622A1D-DC43-07C9-C70D-33D583F4734B}"/>
              </a:ext>
            </a:extLst>
          </p:cNvPr>
          <p:cNvSpPr txBox="1"/>
          <p:nvPr/>
        </p:nvSpPr>
        <p:spPr>
          <a:xfrm>
            <a:off x="3072032" y="5024472"/>
            <a:ext cx="3391032" cy="36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[true] redirect</a:t>
            </a:r>
            <a:endParaRPr lang="en-US" sz="1400" dirty="0"/>
          </a:p>
          <a:p>
            <a:pPr lvl="0"/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Google Shape;416;p41">
            <a:extLst>
              <a:ext uri="{FF2B5EF4-FFF2-40B4-BE49-F238E27FC236}">
                <a16:creationId xmlns:a16="http://schemas.microsoft.com/office/drawing/2014/main" id="{84F7E9FB-A4C9-7582-6D4A-4DBEEB81B79D}"/>
              </a:ext>
            </a:extLst>
          </p:cNvPr>
          <p:cNvCxnSpPr/>
          <p:nvPr/>
        </p:nvCxnSpPr>
        <p:spPr>
          <a:xfrm rot="10800000" flipH="1">
            <a:off x="3099383" y="5352047"/>
            <a:ext cx="51120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3"/>
          <p:cNvSpPr txBox="1">
            <a:spLocks noGrp="1"/>
          </p:cNvSpPr>
          <p:nvPr>
            <p:ph type="title"/>
          </p:nvPr>
        </p:nvSpPr>
        <p:spPr>
          <a:xfrm>
            <a:off x="609600" y="274633"/>
            <a:ext cx="10972800" cy="100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s-419"/>
              <a:t>Event: logout</a:t>
            </a:r>
            <a:endParaRPr/>
          </a:p>
        </p:txBody>
      </p:sp>
      <p:sp>
        <p:nvSpPr>
          <p:cNvPr id="460" name="Google Shape;460;p43"/>
          <p:cNvSpPr/>
          <p:nvPr/>
        </p:nvSpPr>
        <p:spPr>
          <a:xfrm>
            <a:off x="2703893" y="1428067"/>
            <a:ext cx="1752800" cy="381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Logout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1" name="Google Shape;461;p43"/>
          <p:cNvCxnSpPr>
            <a:stCxn id="460" idx="2"/>
          </p:cNvCxnSpPr>
          <p:nvPr/>
        </p:nvCxnSpPr>
        <p:spPr>
          <a:xfrm flipH="1">
            <a:off x="3547493" y="1809267"/>
            <a:ext cx="32800" cy="44872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  <p:cxnSp>
        <p:nvCxnSpPr>
          <p:cNvPr id="462" name="Google Shape;462;p43"/>
          <p:cNvCxnSpPr/>
          <p:nvPr/>
        </p:nvCxnSpPr>
        <p:spPr>
          <a:xfrm>
            <a:off x="2119695" y="2952067"/>
            <a:ext cx="11684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463" name="Google Shape;463;p43"/>
          <p:cNvSpPr txBox="1"/>
          <p:nvPr/>
        </p:nvSpPr>
        <p:spPr>
          <a:xfrm>
            <a:off x="2018095" y="2582735"/>
            <a:ext cx="1220800" cy="3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doPOST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43"/>
          <p:cNvSpPr/>
          <p:nvPr/>
        </p:nvSpPr>
        <p:spPr>
          <a:xfrm>
            <a:off x="3336567" y="2024967"/>
            <a:ext cx="408800" cy="3867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43"/>
          <p:cNvSpPr/>
          <p:nvPr/>
        </p:nvSpPr>
        <p:spPr>
          <a:xfrm>
            <a:off x="5388599" y="1428067"/>
            <a:ext cx="1312000" cy="381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6" name="Google Shape;466;p43"/>
          <p:cNvCxnSpPr/>
          <p:nvPr/>
        </p:nvCxnSpPr>
        <p:spPr>
          <a:xfrm flipH="1">
            <a:off x="6077823" y="1809067"/>
            <a:ext cx="40400" cy="43436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  <p:cxnSp>
        <p:nvCxnSpPr>
          <p:cNvPr id="467" name="Google Shape;467;p43"/>
          <p:cNvCxnSpPr/>
          <p:nvPr/>
        </p:nvCxnSpPr>
        <p:spPr>
          <a:xfrm>
            <a:off x="3745293" y="2494867"/>
            <a:ext cx="2127600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468" name="Google Shape;468;p43"/>
          <p:cNvSpPr/>
          <p:nvPr/>
        </p:nvSpPr>
        <p:spPr>
          <a:xfrm>
            <a:off x="5913133" y="2042033"/>
            <a:ext cx="406400" cy="769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43"/>
          <p:cNvSpPr/>
          <p:nvPr/>
        </p:nvSpPr>
        <p:spPr>
          <a:xfrm>
            <a:off x="7004400" y="1427967"/>
            <a:ext cx="1408000" cy="3812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index.html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0" name="Google Shape;470;p43"/>
          <p:cNvCxnSpPr>
            <a:stCxn id="469" idx="2"/>
          </p:cNvCxnSpPr>
          <p:nvPr/>
        </p:nvCxnSpPr>
        <p:spPr>
          <a:xfrm flipH="1">
            <a:off x="7668000" y="1809167"/>
            <a:ext cx="40400" cy="43436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  <p:sp>
        <p:nvSpPr>
          <p:cNvPr id="471" name="Google Shape;471;p43"/>
          <p:cNvSpPr/>
          <p:nvPr/>
        </p:nvSpPr>
        <p:spPr>
          <a:xfrm>
            <a:off x="7499217" y="3331661"/>
            <a:ext cx="406400" cy="8868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2" name="Google Shape;472;p43"/>
          <p:cNvCxnSpPr/>
          <p:nvPr/>
        </p:nvCxnSpPr>
        <p:spPr>
          <a:xfrm>
            <a:off x="3774087" y="3868951"/>
            <a:ext cx="3700000" cy="36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473" name="Google Shape;473;p43"/>
          <p:cNvSpPr txBox="1"/>
          <p:nvPr/>
        </p:nvSpPr>
        <p:spPr>
          <a:xfrm>
            <a:off x="1675167" y="3081367"/>
            <a:ext cx="1612800" cy="28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/Logout</a:t>
            </a:r>
            <a:endParaRPr sz="1400" dirty="0"/>
          </a:p>
          <a:p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s-419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From: Home.html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3"/>
          <p:cNvSpPr txBox="1"/>
          <p:nvPr/>
        </p:nvSpPr>
        <p:spPr>
          <a:xfrm>
            <a:off x="3981997" y="3483665"/>
            <a:ext cx="28232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algn="ctr"/>
            <a: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redirect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3"/>
          <p:cNvSpPr txBox="1"/>
          <p:nvPr/>
        </p:nvSpPr>
        <p:spPr>
          <a:xfrm>
            <a:off x="3982000" y="2083533"/>
            <a:ext cx="21416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invalidate()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B74391-D993-22FC-84FC-CFF288D39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8515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34" name="Content Placeholder 33"/>
          <p:cNvSpPr>
            <a:spLocks noGrp="1"/>
          </p:cNvSpPr>
          <p:nvPr>
            <p:ph sz="half" idx="2"/>
          </p:nvPr>
        </p:nvSpPr>
        <p:spPr>
          <a:xfrm>
            <a:off x="6400800" y="1600201"/>
            <a:ext cx="4038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Web tier </a:t>
            </a:r>
          </a:p>
          <a:p>
            <a:pPr lvl="1"/>
            <a:r>
              <a:rPr lang="en-US" dirty="0"/>
              <a:t>Model View Controller (MVC)</a:t>
            </a:r>
          </a:p>
          <a:p>
            <a:pPr lvl="2"/>
            <a:r>
              <a:rPr lang="en-US" dirty="0"/>
              <a:t>Controller: handles event</a:t>
            </a:r>
          </a:p>
          <a:p>
            <a:pPr lvl="2"/>
            <a:r>
              <a:rPr lang="en-US" dirty="0"/>
              <a:t>View= presents the interface</a:t>
            </a:r>
          </a:p>
          <a:p>
            <a:pPr lvl="2"/>
            <a:r>
              <a:rPr lang="en-US" dirty="0"/>
              <a:t>Model: store the application status</a:t>
            </a:r>
          </a:p>
          <a:p>
            <a:r>
              <a:rPr lang="en-US" dirty="0"/>
              <a:t>Business &amp; data tier</a:t>
            </a:r>
          </a:p>
          <a:p>
            <a:pPr lvl="1"/>
            <a:r>
              <a:rPr lang="en-US" dirty="0"/>
              <a:t>If complex business logic is required, a service layer can be interposed between the controllers and the DAO layer , to make DAO cope only with data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89152" y="6057900"/>
            <a:ext cx="2895600" cy="4191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089152" y="4762500"/>
            <a:ext cx="2895600" cy="4191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Access Objects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622552" y="5181600"/>
            <a:ext cx="0" cy="8763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5375152" y="5181600"/>
            <a:ext cx="0" cy="8763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98553" y="5486400"/>
            <a:ext cx="149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executeQuery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562601" y="5562600"/>
            <a:ext cx="1604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executeUpdate</a:t>
            </a: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3927352" y="5181600"/>
            <a:ext cx="0" cy="8763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902354" y="5334000"/>
            <a:ext cx="1015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resultSet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3089152" y="3962400"/>
            <a:ext cx="2895600" cy="4191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Model Objects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5324252" y="3288268"/>
            <a:ext cx="0" cy="6223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39999" y="3352800"/>
            <a:ext cx="609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9152" y="2895600"/>
            <a:ext cx="1321000" cy="4191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Controllers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752" y="2895600"/>
            <a:ext cx="1321000" cy="4191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Views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4536952" y="4355068"/>
            <a:ext cx="0" cy="5217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652700" y="4419600"/>
            <a:ext cx="773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</a:t>
            </a:r>
          </a:p>
        </p:txBody>
      </p:sp>
      <p:cxnSp>
        <p:nvCxnSpPr>
          <p:cNvPr id="22" name="Elbow Connector 21"/>
          <p:cNvCxnSpPr>
            <a:stCxn id="17" idx="1"/>
            <a:endCxn id="5" idx="1"/>
          </p:cNvCxnSpPr>
          <p:nvPr/>
        </p:nvCxnSpPr>
        <p:spPr>
          <a:xfrm rot="10800000" flipV="1">
            <a:off x="3089152" y="3105150"/>
            <a:ext cx="12700" cy="1866900"/>
          </a:xfrm>
          <a:prstGeom prst="bentConnector3">
            <a:avLst>
              <a:gd name="adj1" fmla="val 5100000"/>
            </a:avLst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646774" y="3910568"/>
            <a:ext cx="791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invoke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346716"/>
            <a:ext cx="1091684" cy="1091684"/>
          </a:xfrm>
          <a:prstGeom prst="rect">
            <a:avLst/>
          </a:prstGeom>
        </p:spPr>
      </p:pic>
      <p:cxnSp>
        <p:nvCxnSpPr>
          <p:cNvPr id="27" name="Elbow Connector 26"/>
          <p:cNvCxnSpPr>
            <a:endCxn id="17" idx="0"/>
          </p:cNvCxnSpPr>
          <p:nvPr/>
        </p:nvCxnSpPr>
        <p:spPr>
          <a:xfrm rot="10800000" flipV="1">
            <a:off x="3749652" y="1892558"/>
            <a:ext cx="102016" cy="1003042"/>
          </a:xfrm>
          <a:prstGeom prst="bentConnector2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/>
          <p:cNvCxnSpPr>
            <a:stCxn id="18" idx="0"/>
          </p:cNvCxnSpPr>
          <p:nvPr/>
        </p:nvCxnSpPr>
        <p:spPr>
          <a:xfrm rot="16200000" flipV="1">
            <a:off x="4632281" y="2203629"/>
            <a:ext cx="1003042" cy="380900"/>
          </a:xfrm>
          <a:prstGeom prst="bentConnector2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375152" y="2209800"/>
            <a:ext cx="103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response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98314" y="2209800"/>
            <a:ext cx="900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request</a:t>
            </a:r>
          </a:p>
        </p:txBody>
      </p:sp>
      <p:cxnSp>
        <p:nvCxnSpPr>
          <p:cNvPr id="36" name="Elbow Connector 35"/>
          <p:cNvCxnSpPr/>
          <p:nvPr/>
        </p:nvCxnSpPr>
        <p:spPr>
          <a:xfrm rot="16200000" flipH="1">
            <a:off x="4242327" y="2495651"/>
            <a:ext cx="12700" cy="1574600"/>
          </a:xfrm>
          <a:prstGeom prst="bentConnector3">
            <a:avLst>
              <a:gd name="adj1" fmla="val 2300000"/>
            </a:avLst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637373" y="3530600"/>
            <a:ext cx="1749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redirect/forward</a:t>
            </a:r>
          </a:p>
        </p:txBody>
      </p:sp>
    </p:spTree>
    <p:extLst>
      <p:ext uri="{BB962C8B-B14F-4D97-AF65-F5344CB8AC3E}">
        <p14:creationId xmlns:p14="http://schemas.microsoft.com/office/powerpoint/2010/main" val="1698478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1279</TotalTime>
  <Words>1910</Words>
  <Application>Microsoft Office PowerPoint</Application>
  <PresentationFormat>Widescreen</PresentationFormat>
  <Paragraphs>352</Paragraphs>
  <Slides>19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6" baseType="lpstr">
      <vt:lpstr>Arial</vt:lpstr>
      <vt:lpstr>Arial-BoldMT</vt:lpstr>
      <vt:lpstr>ArialMT</vt:lpstr>
      <vt:lpstr>Calibri</vt:lpstr>
      <vt:lpstr>Calibri Light</vt:lpstr>
      <vt:lpstr>Courier New</vt:lpstr>
      <vt:lpstr>Tema di Office</vt:lpstr>
      <vt:lpstr>Testo - Versione pura HTML</vt:lpstr>
      <vt:lpstr>DB - Versione pura HTML</vt:lpstr>
      <vt:lpstr>Database design</vt:lpstr>
      <vt:lpstr>Database design</vt:lpstr>
      <vt:lpstr>Database design 1/3</vt:lpstr>
      <vt:lpstr>Database design 2/3</vt:lpstr>
      <vt:lpstr>Database design 3/3</vt:lpstr>
      <vt:lpstr>Application - Versione pura HTML</vt:lpstr>
      <vt:lpstr>Application design</vt:lpstr>
      <vt:lpstr>Application design</vt:lpstr>
      <vt:lpstr>Components</vt:lpstr>
      <vt:lpstr>Event: login</vt:lpstr>
      <vt:lpstr>Event: registration</vt:lpstr>
      <vt:lpstr>Event: go to home</vt:lpstr>
      <vt:lpstr>Event: see event details</vt:lpstr>
      <vt:lpstr>Event: event booking</vt:lpstr>
      <vt:lpstr>Event: logout</vt:lpstr>
      <vt:lpstr>Presentazione standard di PowerPoint</vt:lpstr>
      <vt:lpstr>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Versione pura HTML</dc:title>
  <dc:creator>Andrea</dc:creator>
  <cp:lastModifiedBy>Andrea</cp:lastModifiedBy>
  <cp:revision>64</cp:revision>
  <dcterms:created xsi:type="dcterms:W3CDTF">2023-07-01T13:07:18Z</dcterms:created>
  <dcterms:modified xsi:type="dcterms:W3CDTF">2023-09-05T19:57:02Z</dcterms:modified>
</cp:coreProperties>
</file>